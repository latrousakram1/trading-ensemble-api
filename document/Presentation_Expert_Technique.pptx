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PatchTST</c:v>
                  </c:pt>
                  <c:pt idx="1">
                    <c:v>LSTM</c:v>
                  </c:pt>
                  <c:pt idx="2">
                    <c:v>CNN</c:v>
                  </c:pt>
                  <c:pt idx="3">
                    <c:v>TFT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57.47</c:v>
                </c:pt>
                <c:pt idx="1">
                  <c:v>61.24</c:v>
                </c:pt>
                <c:pt idx="2">
                  <c:v>60.48</c:v>
                </c:pt>
                <c:pt idx="3">
                  <c:v>44.81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F1-macro</c:v>
                </c:pt>
              </c:strCache>
            </c:strRef>
          </c:tx>
          <c:spPr>
            <a:solidFill>
              <a:srgbClr val="7C3AE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PatchTST</c:v>
                  </c:pt>
                  <c:pt idx="1">
                    <c:v>LSTM</c:v>
                  </c:pt>
                  <c:pt idx="2">
                    <c:v>CNN</c:v>
                  </c:pt>
                  <c:pt idx="3">
                    <c:v>TFT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53.47</c:v>
                </c:pt>
                <c:pt idx="1">
                  <c:v>60.35</c:v>
                </c:pt>
                <c:pt idx="2">
                  <c:v>59.31</c:v>
                </c:pt>
                <c:pt idx="3">
                  <c:v>40.12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1182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5"/>
          <c:min val="3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PatchTST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Sell</c:v>
                  </c:pt>
                  <c:pt idx="1">
                    <c:v>Hold</c:v>
                  </c:pt>
                  <c:pt idx="2">
                    <c:v>Buy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0.63</c:v>
                </c:pt>
                <c:pt idx="1">
                  <c:v>0.38</c:v>
                </c:pt>
                <c:pt idx="2">
                  <c:v>0.58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LSTM</c:v>
                </c:pt>
              </c:strCache>
            </c:strRef>
          </c:tx>
          <c:spPr>
            <a:solidFill>
              <a:srgbClr val="7C3AE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Sell</c:v>
                  </c:pt>
                  <c:pt idx="1">
                    <c:v>Hold</c:v>
                  </c:pt>
                  <c:pt idx="2">
                    <c:v>Buy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0.66</c:v>
                </c:pt>
                <c:pt idx="1">
                  <c:v>0.44</c:v>
                </c:pt>
                <c:pt idx="2">
                  <c:v>0.65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CNN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Sell</c:v>
                  </c:pt>
                  <c:pt idx="1">
                    <c:v>Hold</c:v>
                  </c:pt>
                  <c:pt idx="2">
                    <c:v>Buy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0.65</c:v>
                </c:pt>
                <c:pt idx="1">
                  <c:v>0.42</c:v>
                </c:pt>
                <c:pt idx="2">
                  <c:v>0.63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Ensemble ★</c:v>
                </c:pt>
              </c:strCache>
            </c:strRef>
          </c:tx>
          <c:spPr>
            <a:solidFill>
              <a:srgbClr val="22C55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Sell</c:v>
                  </c:pt>
                  <c:pt idx="1">
                    <c:v>Hold</c:v>
                  </c:pt>
                  <c:pt idx="2">
                    <c:v>Buy</c:v>
                  </c:pt>
                </c:lvl>
              </c:multiLvlStrCache>
            </c:multiLvl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0.72</c:v>
                </c:pt>
                <c:pt idx="1">
                  <c:v>0.48</c:v>
                </c:pt>
                <c:pt idx="2">
                  <c:v>0.69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1182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9"/>
          <c:min val="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8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Sharpe ratio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7C3AED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563E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2C55E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PatchTST</c:v>
                  </c:pt>
                  <c:pt idx="1">
                    <c:v>LSTM</c:v>
                  </c:pt>
                  <c:pt idx="2">
                    <c:v>CNN</c:v>
                  </c:pt>
                  <c:pt idx="3">
                    <c:v>Ensemble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31.64</c:v>
                </c:pt>
                <c:pt idx="1">
                  <c:v>42.96</c:v>
                </c:pt>
                <c:pt idx="2">
                  <c:v>41.78</c:v>
                </c:pt>
                <c:pt idx="3">
                  <c:v>49.29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1182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Max DD %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7C3AED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563E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2C55E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PatchTST</c:v>
                  </c:pt>
                  <c:pt idx="1">
                    <c:v>LSTM</c:v>
                  </c:pt>
                  <c:pt idx="2">
                    <c:v>CNN</c:v>
                  </c:pt>
                  <c:pt idx="3">
                    <c:v>Ensemble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10.47</c:v>
                </c:pt>
                <c:pt idx="1">
                  <c:v>8.65</c:v>
                </c:pt>
                <c:pt idx="2">
                  <c:v>6.58</c:v>
                </c:pt>
                <c:pt idx="3">
                  <c:v>4.07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1182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4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0"/>
            <a:ext cx="0" cy="5148072"/>
          </a:xfrm>
          <a:prstGeom prst="line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0" y="0"/>
            <a:ext cx="0" cy="5148072"/>
          </a:xfrm>
          <a:prstGeom prst="line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74720" y="0"/>
            <a:ext cx="0" cy="5148072"/>
          </a:xfrm>
          <a:prstGeom prst="line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120640" y="0"/>
            <a:ext cx="0" cy="5148072"/>
          </a:xfrm>
          <a:prstGeom prst="line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766560" y="0"/>
            <a:ext cx="0" cy="5148072"/>
          </a:xfrm>
          <a:prstGeom prst="line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0" y="0"/>
            <a:ext cx="0" cy="5148072"/>
          </a:xfrm>
          <a:prstGeom prst="line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274320"/>
            <a:ext cx="9144000" cy="0"/>
          </a:xfrm>
          <a:prstGeom prst="line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3017520"/>
            <a:ext cx="9144000" cy="0"/>
          </a:xfrm>
          <a:prstGeom prst="line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0"/>
            <a:ext cx="73152" cy="514807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228600" y="457200"/>
            <a:ext cx="8686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Système de Trading par Intelligence Artificielle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28600" y="1051560"/>
            <a:ext cx="8686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Technique</a:t>
            </a:r>
            <a:endParaRPr lang="en-US" sz="5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Complète</a:t>
            </a:r>
            <a:endParaRPr lang="en-US" sz="5600" dirty="0"/>
          </a:p>
        </p:txBody>
      </p:sp>
      <p:sp>
        <p:nvSpPr>
          <p:cNvPr id="15" name="Text 13"/>
          <p:cNvSpPr/>
          <p:nvPr/>
        </p:nvSpPr>
        <p:spPr>
          <a:xfrm>
            <a:off x="228600" y="2971800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PatchTST  ·  LSTM Attention  ·  CNN Transformer  ·  Ensemble  ·  Optuna  ·  FastAPI  ·  Docker  ·  GitHub Actions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28600" y="3547872"/>
            <a:ext cx="1591056" cy="274320"/>
          </a:xfrm>
          <a:prstGeom prst="roundRect">
            <a:avLst>
              <a:gd name="adj" fmla="val 16667"/>
            </a:avLst>
          </a:prstGeom>
          <a:solidFill>
            <a:srgbClr val="2563EB"/>
          </a:solidFill>
          <a:ln/>
        </p:spPr>
      </p:sp>
      <p:sp>
        <p:nvSpPr>
          <p:cNvPr id="17" name="Text 15"/>
          <p:cNvSpPr/>
          <p:nvPr/>
        </p:nvSpPr>
        <p:spPr>
          <a:xfrm>
            <a:off x="228600" y="3547872"/>
            <a:ext cx="1591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PyTorch 2.10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325880" y="3547872"/>
            <a:ext cx="1042416" cy="274320"/>
          </a:xfrm>
          <a:prstGeom prst="roundRect">
            <a:avLst>
              <a:gd name="adj" fmla="val 16667"/>
            </a:avLst>
          </a:prstGeom>
          <a:solidFill>
            <a:srgbClr val="0D9488"/>
          </a:solidFill>
          <a:ln/>
        </p:spPr>
      </p:sp>
      <p:sp>
        <p:nvSpPr>
          <p:cNvPr id="19" name="Text 17"/>
          <p:cNvSpPr/>
          <p:nvPr/>
        </p:nvSpPr>
        <p:spPr>
          <a:xfrm>
            <a:off x="1325880" y="3547872"/>
            <a:ext cx="10424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FastAPI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423160" y="3547872"/>
            <a:ext cx="932688" cy="274320"/>
          </a:xfrm>
          <a:prstGeom prst="roundRect">
            <a:avLst>
              <a:gd name="adj" fmla="val 16667"/>
            </a:avLst>
          </a:prstGeom>
          <a:solidFill>
            <a:srgbClr val="1E3A8A"/>
          </a:solidFill>
          <a:ln/>
        </p:spPr>
      </p:sp>
      <p:sp>
        <p:nvSpPr>
          <p:cNvPr id="21" name="Text 19"/>
          <p:cNvSpPr/>
          <p:nvPr/>
        </p:nvSpPr>
        <p:spPr>
          <a:xfrm>
            <a:off x="2423160" y="3547872"/>
            <a:ext cx="9326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520440" y="3547872"/>
            <a:ext cx="932688" cy="274320"/>
          </a:xfrm>
          <a:prstGeom prst="roundRect">
            <a:avLst>
              <a:gd name="adj" fmla="val 16667"/>
            </a:avLst>
          </a:prstGeom>
          <a:solidFill>
            <a:srgbClr val="7C3AED"/>
          </a:solidFill>
          <a:ln/>
        </p:spPr>
      </p:sp>
      <p:sp>
        <p:nvSpPr>
          <p:cNvPr id="23" name="Text 21"/>
          <p:cNvSpPr/>
          <p:nvPr/>
        </p:nvSpPr>
        <p:spPr>
          <a:xfrm>
            <a:off x="3520440" y="3547872"/>
            <a:ext cx="9326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MLflow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17720" y="3547872"/>
            <a:ext cx="932688" cy="274320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/>
        </p:spPr>
      </p:sp>
      <p:sp>
        <p:nvSpPr>
          <p:cNvPr id="25" name="Text 23"/>
          <p:cNvSpPr/>
          <p:nvPr/>
        </p:nvSpPr>
        <p:spPr>
          <a:xfrm>
            <a:off x="4617720" y="3547872"/>
            <a:ext cx="9326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Optuna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715000" y="3547872"/>
            <a:ext cx="1810512" cy="274320"/>
          </a:xfrm>
          <a:prstGeom prst="roundRect">
            <a:avLst>
              <a:gd name="adj" fmla="val 16667"/>
            </a:avLst>
          </a:prstGeom>
          <a:solidFill>
            <a:srgbClr val="22C55E"/>
          </a:solidFill>
          <a:ln/>
        </p:spPr>
      </p:sp>
      <p:sp>
        <p:nvSpPr>
          <p:cNvPr id="27" name="Text 25"/>
          <p:cNvSpPr/>
          <p:nvPr/>
        </p:nvSpPr>
        <p:spPr>
          <a:xfrm>
            <a:off x="5715000" y="3547872"/>
            <a:ext cx="1810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 Actions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812280" y="3547872"/>
            <a:ext cx="1042416" cy="274320"/>
          </a:xfrm>
          <a:prstGeom prst="roundRect">
            <a:avLst>
              <a:gd name="adj" fmla="val 16667"/>
            </a:avLst>
          </a:prstGeom>
          <a:solidFill>
            <a:srgbClr val="EF4444"/>
          </a:solidFill>
          <a:ln/>
        </p:spPr>
      </p:sp>
      <p:sp>
        <p:nvSpPr>
          <p:cNvPr id="29" name="Text 27"/>
          <p:cNvSpPr/>
          <p:nvPr/>
        </p:nvSpPr>
        <p:spPr>
          <a:xfrm>
            <a:off x="6812280" y="3547872"/>
            <a:ext cx="10424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NSGA-II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909560" y="3547872"/>
            <a:ext cx="1152144" cy="274320"/>
          </a:xfrm>
          <a:prstGeom prst="roundRect">
            <a:avLst>
              <a:gd name="adj" fmla="val 16667"/>
            </a:avLst>
          </a:prstGeom>
          <a:solidFill>
            <a:srgbClr val="22C55E"/>
          </a:solidFill>
          <a:ln/>
        </p:spPr>
      </p:sp>
      <p:sp>
        <p:nvSpPr>
          <p:cNvPr id="31" name="Text 29"/>
          <p:cNvSpPr/>
          <p:nvPr/>
        </p:nvSpPr>
        <p:spPr>
          <a:xfrm>
            <a:off x="7909560" y="3547872"/>
            <a:ext cx="11521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F1=0.630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28600" y="4709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Soutenance · Avril 2026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869680" y="480060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8869680" y="4800600"/>
            <a:ext cx="274320" cy="228600"/>
          </a:xfrm>
          <a:prstGeom prst="rect">
            <a:avLst/>
          </a:prstGeom>
          <a:solidFill>
            <a:srgbClr val="2563EB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21A40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68580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la présentation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20116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slides · 8 sections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8869680" y="4892040"/>
            <a:ext cx="274320" cy="2286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8869680" y="489204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28600" y="914400"/>
            <a:ext cx="420624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914400"/>
            <a:ext cx="54864" cy="8686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Shape 7"/>
          <p:cNvSpPr/>
          <p:nvPr/>
        </p:nvSpPr>
        <p:spPr>
          <a:xfrm>
            <a:off x="365760" y="1005840"/>
            <a:ext cx="502920" cy="384048"/>
          </a:xfrm>
          <a:prstGeom prst="roundRect">
            <a:avLst>
              <a:gd name="adj" fmla="val 14286"/>
            </a:avLst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1005840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98755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&amp; Données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05840" y="138988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Problème, actifs, features, labels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914400"/>
            <a:ext cx="420624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914400"/>
            <a:ext cx="54864" cy="8686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Shape 13"/>
          <p:cNvSpPr/>
          <p:nvPr/>
        </p:nvSpPr>
        <p:spPr>
          <a:xfrm>
            <a:off x="4800600" y="1005840"/>
            <a:ext cx="502920" cy="384048"/>
          </a:xfrm>
          <a:prstGeom prst="roundRect">
            <a:avLst>
              <a:gd name="adj" fmla="val 14286"/>
            </a:avLst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4800600" y="1005840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40680" y="98755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ML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40680" y="138988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PatchTST, LSTM, CNN, TFT — comparaison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28600" y="1938528"/>
            <a:ext cx="420624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28600" y="1938528"/>
            <a:ext cx="54864" cy="8686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1" name="Shape 19"/>
          <p:cNvSpPr/>
          <p:nvPr/>
        </p:nvSpPr>
        <p:spPr>
          <a:xfrm>
            <a:off x="365760" y="2029968"/>
            <a:ext cx="502920" cy="384048"/>
          </a:xfrm>
          <a:prstGeom prst="roundRect">
            <a:avLst>
              <a:gd name="adj" fmla="val 14286"/>
            </a:avLst>
          </a:prstGeom>
          <a:solidFill>
            <a:srgbClr val="7C3AED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2029968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05840" y="201168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Entraînement — Nb.12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05840" y="2414016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Protocole, résultats, classification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63440" y="1938528"/>
            <a:ext cx="420624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63440" y="1938528"/>
            <a:ext cx="54864" cy="8686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Shape 25"/>
          <p:cNvSpPr/>
          <p:nvPr/>
        </p:nvSpPr>
        <p:spPr>
          <a:xfrm>
            <a:off x="4800600" y="2029968"/>
            <a:ext cx="502920" cy="384048"/>
          </a:xfrm>
          <a:prstGeom prst="roundRect">
            <a:avLst>
              <a:gd name="adj" fmla="val 14286"/>
            </a:avLst>
          </a:prstGeom>
          <a:solidFill>
            <a:srgbClr val="F59E0B"/>
          </a:solidFill>
          <a:ln/>
        </p:spPr>
      </p:sp>
      <p:sp>
        <p:nvSpPr>
          <p:cNvPr id="28" name="Text 26"/>
          <p:cNvSpPr/>
          <p:nvPr/>
        </p:nvSpPr>
        <p:spPr>
          <a:xfrm>
            <a:off x="4800600" y="2029968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440680" y="201168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Optuna Pareto — Nb.13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440680" y="2414016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NSGA-II, espace recherche, fronts Pareto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28600" y="2962656"/>
            <a:ext cx="420624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28600" y="2962656"/>
            <a:ext cx="54864" cy="86868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3" name="Shape 31"/>
          <p:cNvSpPr/>
          <p:nvPr/>
        </p:nvSpPr>
        <p:spPr>
          <a:xfrm>
            <a:off x="365760" y="3054096"/>
            <a:ext cx="502920" cy="384048"/>
          </a:xfrm>
          <a:prstGeom prst="roundRect">
            <a:avLst>
              <a:gd name="adj" fmla="val 14286"/>
            </a:avLst>
          </a:prstGeom>
          <a:solidFill>
            <a:srgbClr val="22C55E"/>
          </a:solidFill>
          <a:ln/>
        </p:spPr>
      </p:sp>
      <p:sp>
        <p:nvSpPr>
          <p:cNvPr id="34" name="Text 32"/>
          <p:cNvSpPr/>
          <p:nvPr/>
        </p:nvSpPr>
        <p:spPr>
          <a:xfrm>
            <a:off x="365760" y="3054096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1005840" y="3035808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pondéré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1005840" y="3438144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Poids F1, résultats, matrice confusion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663440" y="2962656"/>
            <a:ext cx="420624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663440" y="2962656"/>
            <a:ext cx="54864" cy="8686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9" name="Shape 37"/>
          <p:cNvSpPr/>
          <p:nvPr/>
        </p:nvSpPr>
        <p:spPr>
          <a:xfrm>
            <a:off x="4800600" y="3054096"/>
            <a:ext cx="502920" cy="384048"/>
          </a:xfrm>
          <a:prstGeom prst="roundRect">
            <a:avLst>
              <a:gd name="adj" fmla="val 14286"/>
            </a:avLst>
          </a:prstGeom>
          <a:solidFill>
            <a:srgbClr val="EF4444"/>
          </a:solidFill>
          <a:ln/>
        </p:spPr>
      </p:sp>
      <p:sp>
        <p:nvSpPr>
          <p:cNvPr id="40" name="Text 38"/>
          <p:cNvSpPr/>
          <p:nvPr/>
        </p:nvSpPr>
        <p:spPr>
          <a:xfrm>
            <a:off x="4800600" y="3054096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5440680" y="3035808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Backtest financier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5440680" y="3438144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Méthodologie, KPIs, bug corrigé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28600" y="3986784"/>
            <a:ext cx="420624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228600" y="3986784"/>
            <a:ext cx="54864" cy="86868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5" name="Shape 43"/>
          <p:cNvSpPr/>
          <p:nvPr/>
        </p:nvSpPr>
        <p:spPr>
          <a:xfrm>
            <a:off x="365760" y="4078224"/>
            <a:ext cx="502920" cy="384048"/>
          </a:xfrm>
          <a:prstGeom prst="roundRect">
            <a:avLst>
              <a:gd name="adj" fmla="val 14286"/>
            </a:avLst>
          </a:prstGeom>
          <a:solidFill>
            <a:srgbClr val="14B8A6"/>
          </a:solidFill>
          <a:ln/>
        </p:spPr>
      </p:sp>
      <p:sp>
        <p:nvSpPr>
          <p:cNvPr id="46" name="Text 44"/>
          <p:cNvSpPr/>
          <p:nvPr/>
        </p:nvSpPr>
        <p:spPr>
          <a:xfrm>
            <a:off x="365760" y="4078224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1005840" y="4059936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 API + Docker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1005840" y="446227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FastAPI, endpoints, Dockerfile multi-stage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663440" y="3986784"/>
            <a:ext cx="420624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4663440" y="3986784"/>
            <a:ext cx="54864" cy="8686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1" name="Shape 49"/>
          <p:cNvSpPr/>
          <p:nvPr/>
        </p:nvSpPr>
        <p:spPr>
          <a:xfrm>
            <a:off x="4800600" y="4078224"/>
            <a:ext cx="502920" cy="384048"/>
          </a:xfrm>
          <a:prstGeom prst="roundRect">
            <a:avLst>
              <a:gd name="adj" fmla="val 14286"/>
            </a:avLst>
          </a:prstGeom>
          <a:solidFill>
            <a:srgbClr val="2563EB"/>
          </a:solidFill>
          <a:ln/>
        </p:spPr>
      </p:sp>
      <p:sp>
        <p:nvSpPr>
          <p:cNvPr id="52" name="Text 50"/>
          <p:cNvSpPr/>
          <p:nvPr/>
        </p:nvSpPr>
        <p:spPr>
          <a:xfrm>
            <a:off x="4800600" y="4078224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5440680" y="4059936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&amp; Tests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5440680" y="446227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Actions, pytest, sécurité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21A40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68580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Contexte, données et feature engineering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20116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1/8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8869680" y="4892040"/>
            <a:ext cx="274320" cy="2286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8869680" y="489204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28600" y="868680"/>
            <a:ext cx="1353312" cy="960120"/>
          </a:xfrm>
          <a:prstGeom prst="roundRect">
            <a:avLst>
              <a:gd name="adj" fmla="val 7619"/>
            </a:avLst>
          </a:prstGeom>
          <a:solidFill>
            <a:srgbClr val="121A4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28600" y="905256"/>
            <a:ext cx="13533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28600" y="1371600"/>
            <a:ext cx="13533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Actifs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28600" y="1600200"/>
            <a:ext cx="1353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B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BTC ETH BNB SOL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691640" y="868680"/>
            <a:ext cx="1353312" cy="960120"/>
          </a:xfrm>
          <a:prstGeom prst="roundRect">
            <a:avLst>
              <a:gd name="adj" fmla="val 7619"/>
            </a:avLst>
          </a:prstGeom>
          <a:solidFill>
            <a:srgbClr val="121A4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691640" y="905256"/>
            <a:ext cx="13533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17 280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691640" y="1371600"/>
            <a:ext cx="13533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Lignes totales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91640" y="1600200"/>
            <a:ext cx="1353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B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2025 → Avr 2026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154680" y="868680"/>
            <a:ext cx="1353312" cy="960120"/>
          </a:xfrm>
          <a:prstGeom prst="roundRect">
            <a:avLst>
              <a:gd name="adj" fmla="val 7619"/>
            </a:avLst>
          </a:prstGeom>
          <a:solidFill>
            <a:srgbClr val="121A4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154680" y="905256"/>
            <a:ext cx="13533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1h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154680" y="1371600"/>
            <a:ext cx="13533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Résolution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154680" y="1600200"/>
            <a:ext cx="1353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B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horaires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617720" y="868680"/>
            <a:ext cx="1353312" cy="960120"/>
          </a:xfrm>
          <a:prstGeom prst="roundRect">
            <a:avLst>
              <a:gd name="adj" fmla="val 7619"/>
            </a:avLst>
          </a:prstGeom>
          <a:solidFill>
            <a:srgbClr val="121A4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617720" y="905256"/>
            <a:ext cx="13533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617720" y="1371600"/>
            <a:ext cx="13533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617720" y="1600200"/>
            <a:ext cx="1353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B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OHLCV + indicateurs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080760" y="868680"/>
            <a:ext cx="1353312" cy="960120"/>
          </a:xfrm>
          <a:prstGeom prst="roundRect">
            <a:avLst>
              <a:gd name="adj" fmla="val 7619"/>
            </a:avLst>
          </a:prstGeom>
          <a:solidFill>
            <a:srgbClr val="121A4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080760" y="905256"/>
            <a:ext cx="13533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70/15/15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080760" y="1371600"/>
            <a:ext cx="13533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080760" y="1600200"/>
            <a:ext cx="1353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B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Train/Val/Test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7543800" y="868680"/>
            <a:ext cx="1353312" cy="960120"/>
          </a:xfrm>
          <a:prstGeom prst="roundRect">
            <a:avLst>
              <a:gd name="adj" fmla="val 7619"/>
            </a:avLst>
          </a:prstGeom>
          <a:solidFill>
            <a:srgbClr val="121A4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7543800" y="905256"/>
            <a:ext cx="13533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2 495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543800" y="1371600"/>
            <a:ext cx="13533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 test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543800" y="1600200"/>
            <a:ext cx="1353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B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Après dropna rolling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228600" y="1965960"/>
            <a:ext cx="5760720" cy="4114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89320" y="1965960"/>
            <a:ext cx="1234440" cy="411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223760" y="1965960"/>
            <a:ext cx="1691640" cy="4114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28600" y="1965960"/>
            <a:ext cx="5760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— 70%  (12 096 lignes)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989320" y="1965960"/>
            <a:ext cx="1234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15%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223760" y="196596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15%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28600" y="239572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temporel strict — pas de data leakage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28600" y="269748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— 20 features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228600" y="2999232"/>
            <a:ext cx="4114800" cy="3474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228600" y="2999232"/>
            <a:ext cx="45720" cy="34747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1" name="Text 39"/>
          <p:cNvSpPr/>
          <p:nvPr/>
        </p:nvSpPr>
        <p:spPr>
          <a:xfrm>
            <a:off x="338328" y="303580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Rendements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371600" y="303580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ret_1h, ret_3h, ret_6h, ret_12h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228600" y="3419856"/>
            <a:ext cx="4114800" cy="347472"/>
          </a:xfrm>
          <a:prstGeom prst="rect">
            <a:avLst/>
          </a:prstGeom>
          <a:solidFill>
            <a:srgbClr val="F9FAF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228600" y="3419856"/>
            <a:ext cx="45720" cy="34747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5" name="Text 43"/>
          <p:cNvSpPr/>
          <p:nvPr/>
        </p:nvSpPr>
        <p:spPr>
          <a:xfrm>
            <a:off x="338328" y="345643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Tendances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371600" y="34564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sma_5/10/20, ema_5/10/20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228600" y="3840480"/>
            <a:ext cx="4114800" cy="3474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228600" y="3840480"/>
            <a:ext cx="45720" cy="34747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9" name="Text 47"/>
          <p:cNvSpPr/>
          <p:nvPr/>
        </p:nvSpPr>
        <p:spPr>
          <a:xfrm>
            <a:off x="338328" y="3877056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Momentum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371600" y="387705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rsi_14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228600" y="4261104"/>
            <a:ext cx="4114800" cy="347472"/>
          </a:xfrm>
          <a:prstGeom prst="rect">
            <a:avLst/>
          </a:prstGeom>
          <a:solidFill>
            <a:srgbClr val="F9FAF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228600" y="4261104"/>
            <a:ext cx="45720" cy="34747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3" name="Text 51"/>
          <p:cNvSpPr/>
          <p:nvPr/>
        </p:nvSpPr>
        <p:spPr>
          <a:xfrm>
            <a:off x="338328" y="429768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Volatilité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1371600" y="42976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vol_12, zscore_20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480560" y="2999232"/>
            <a:ext cx="4572000" cy="3474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4480560" y="2999232"/>
            <a:ext cx="45720" cy="347472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57" name="Text 55"/>
          <p:cNvSpPr/>
          <p:nvPr/>
        </p:nvSpPr>
        <p:spPr>
          <a:xfrm>
            <a:off x="4590288" y="303580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5623560" y="3035808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range_pct, body_pct, volume_zscore_20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480560" y="3419856"/>
            <a:ext cx="4572000" cy="347472"/>
          </a:xfrm>
          <a:prstGeom prst="rect">
            <a:avLst/>
          </a:prstGeom>
          <a:solidFill>
            <a:srgbClr val="F9FAF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4480560" y="3419856"/>
            <a:ext cx="45720" cy="347472"/>
          </a:xfrm>
          <a:prstGeom prst="rect">
            <a:avLst/>
          </a:prstGeom>
          <a:solidFill>
            <a:srgbClr val="8BA4D8"/>
          </a:solidFill>
          <a:ln/>
        </p:spPr>
      </p:sp>
      <p:sp>
        <p:nvSpPr>
          <p:cNvPr id="61" name="Text 59"/>
          <p:cNvSpPr/>
          <p:nvPr/>
        </p:nvSpPr>
        <p:spPr>
          <a:xfrm>
            <a:off x="4590288" y="345643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A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Calendrier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5623560" y="3456432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hour, dayofweek, month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4480560" y="3840480"/>
            <a:ext cx="4572000" cy="3474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4480560" y="3840480"/>
            <a:ext cx="45720" cy="34747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5" name="Text 63"/>
          <p:cNvSpPr/>
          <p:nvPr/>
        </p:nvSpPr>
        <p:spPr>
          <a:xfrm>
            <a:off x="4590288" y="3877056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5623560" y="3877056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sentiment_score  [-1, +1]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228600" y="4645152"/>
            <a:ext cx="8686800" cy="320040"/>
          </a:xfrm>
          <a:prstGeom prst="rect">
            <a:avLst/>
          </a:prstGeom>
          <a:solidFill>
            <a:srgbClr val="121A40"/>
          </a:solidFill>
          <a:ln/>
        </p:spPr>
      </p:sp>
      <p:sp>
        <p:nvSpPr>
          <p:cNvPr id="68" name="Text 66"/>
          <p:cNvSpPr/>
          <p:nvPr/>
        </p:nvSpPr>
        <p:spPr>
          <a:xfrm>
            <a:off x="320040" y="466344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Cible : horizon=12h  ·  Buy (2) si rendement &gt; +0.8%  ·  Sell (0) si &lt; -0.8%  ·  Hold (1) sinon  ·  Classes équilibrées : WeightedRandomSampler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21A40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68580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Architecture des 4 modèles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20116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2/8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8869680" y="4892040"/>
            <a:ext cx="274320" cy="2286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8869680" y="489204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28600" y="896112"/>
            <a:ext cx="868680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896112"/>
            <a:ext cx="54864" cy="9601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950976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PatchTST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1316736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116 163 params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194560" y="950976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 (96×20) → Patches (12×6) → Linear Proj → Transformer Encoder × 3 → Global Pool → FC(3)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194560" y="1353312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les dépendances à long terme via patchs — efficace sur séquences longues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217920" y="969264"/>
            <a:ext cx="841248" cy="274320"/>
          </a:xfrm>
          <a:prstGeom prst="roundRect">
            <a:avLst>
              <a:gd name="adj" fmla="val 16667"/>
            </a:avLst>
          </a:prstGeom>
          <a:solidFill>
            <a:srgbClr val="121A40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969264"/>
            <a:ext cx="841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d_model: 64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132320" y="969264"/>
            <a:ext cx="841248" cy="274320"/>
          </a:xfrm>
          <a:prstGeom prst="roundRect">
            <a:avLst>
              <a:gd name="adj" fmla="val 16667"/>
            </a:avLst>
          </a:prstGeom>
          <a:solidFill>
            <a:srgbClr val="121A40"/>
          </a:solidFill>
          <a:ln/>
        </p:spPr>
      </p:sp>
      <p:sp>
        <p:nvSpPr>
          <p:cNvPr id="16" name="Text 14"/>
          <p:cNvSpPr/>
          <p:nvPr/>
        </p:nvSpPr>
        <p:spPr>
          <a:xfrm>
            <a:off x="7132320" y="969264"/>
            <a:ext cx="841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n_heads: 4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8046720" y="969264"/>
            <a:ext cx="841248" cy="274320"/>
          </a:xfrm>
          <a:prstGeom prst="roundRect">
            <a:avLst>
              <a:gd name="adj" fmla="val 16667"/>
            </a:avLst>
          </a:prstGeom>
          <a:solidFill>
            <a:srgbClr val="121A40"/>
          </a:solidFill>
          <a:ln/>
        </p:spPr>
      </p:sp>
      <p:sp>
        <p:nvSpPr>
          <p:cNvPr id="18" name="Text 16"/>
          <p:cNvSpPr/>
          <p:nvPr/>
        </p:nvSpPr>
        <p:spPr>
          <a:xfrm>
            <a:off x="8046720" y="969264"/>
            <a:ext cx="841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n_layers: 3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217920" y="1353312"/>
            <a:ext cx="841248" cy="274320"/>
          </a:xfrm>
          <a:prstGeom prst="roundRect">
            <a:avLst>
              <a:gd name="adj" fmla="val 16667"/>
            </a:avLst>
          </a:prstGeom>
          <a:solidFill>
            <a:srgbClr val="121A40"/>
          </a:solidFill>
          <a:ln/>
        </p:spPr>
      </p:sp>
      <p:sp>
        <p:nvSpPr>
          <p:cNvPr id="20" name="Text 18"/>
          <p:cNvSpPr/>
          <p:nvPr/>
        </p:nvSpPr>
        <p:spPr>
          <a:xfrm>
            <a:off x="6217920" y="1353312"/>
            <a:ext cx="841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ff_dim: 128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132320" y="1353312"/>
            <a:ext cx="841248" cy="274320"/>
          </a:xfrm>
          <a:prstGeom prst="roundRect">
            <a:avLst>
              <a:gd name="adj" fmla="val 16667"/>
            </a:avLst>
          </a:prstGeom>
          <a:solidFill>
            <a:srgbClr val="121A40"/>
          </a:solidFill>
          <a:ln/>
        </p:spPr>
      </p:sp>
      <p:sp>
        <p:nvSpPr>
          <p:cNvPr id="22" name="Text 20"/>
          <p:cNvSpPr/>
          <p:nvPr/>
        </p:nvSpPr>
        <p:spPr>
          <a:xfrm>
            <a:off x="7132320" y="1353312"/>
            <a:ext cx="841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dropout: 0.20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8046720" y="1353312"/>
            <a:ext cx="841248" cy="274320"/>
          </a:xfrm>
          <a:prstGeom prst="roundRect">
            <a:avLst>
              <a:gd name="adj" fmla="val 16667"/>
            </a:avLst>
          </a:prstGeom>
          <a:solidFill>
            <a:srgbClr val="121A40"/>
          </a:solidFill>
          <a:ln/>
        </p:spPr>
      </p:sp>
      <p:sp>
        <p:nvSpPr>
          <p:cNvPr id="24" name="Text 22"/>
          <p:cNvSpPr/>
          <p:nvPr/>
        </p:nvSpPr>
        <p:spPr>
          <a:xfrm>
            <a:off x="8046720" y="1353312"/>
            <a:ext cx="841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patch_len: 12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8732520" y="969264"/>
            <a:ext cx="594360" cy="804672"/>
          </a:xfrm>
          <a:prstGeom prst="roundRect">
            <a:avLst>
              <a:gd name="adj" fmla="val 9231"/>
            </a:avLst>
          </a:prstGeom>
          <a:solidFill>
            <a:srgbClr val="2563EB"/>
          </a:solidFill>
          <a:ln/>
        </p:spPr>
      </p:sp>
      <p:sp>
        <p:nvSpPr>
          <p:cNvPr id="26" name="Text 24"/>
          <p:cNvSpPr/>
          <p:nvPr/>
        </p:nvSpPr>
        <p:spPr>
          <a:xfrm>
            <a:off x="8732520" y="987552"/>
            <a:ext cx="594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0.535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732520" y="1353312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D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8732520" y="1554480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0.746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228600" y="1938528"/>
            <a:ext cx="868680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28600" y="1938528"/>
            <a:ext cx="54864" cy="9601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1" name="Text 29"/>
          <p:cNvSpPr/>
          <p:nvPr/>
        </p:nvSpPr>
        <p:spPr>
          <a:xfrm>
            <a:off x="365760" y="1993392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Attention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65760" y="235915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1 354 883 params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194560" y="1993392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 → Linear(20→128) → BiLSTM × 2 (hidden=128) → MultiHead Attn (4h) → Pool → FC(3)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2194560" y="239572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Mémoire longue + attention sélective — meilleur individuel du projet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217920" y="2011680"/>
            <a:ext cx="841248" cy="274320"/>
          </a:xfrm>
          <a:prstGeom prst="roundRect">
            <a:avLst>
              <a:gd name="adj" fmla="val 16667"/>
            </a:avLst>
          </a:prstGeom>
          <a:solidFill>
            <a:srgbClr val="121A40"/>
          </a:solidFill>
          <a:ln/>
        </p:spPr>
      </p:sp>
      <p:sp>
        <p:nvSpPr>
          <p:cNvPr id="36" name="Text 34"/>
          <p:cNvSpPr/>
          <p:nvPr/>
        </p:nvSpPr>
        <p:spPr>
          <a:xfrm>
            <a:off x="6217920" y="2011680"/>
            <a:ext cx="841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hidden_dim: 128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7132320" y="2011680"/>
            <a:ext cx="841248" cy="274320"/>
          </a:xfrm>
          <a:prstGeom prst="roundRect">
            <a:avLst>
              <a:gd name="adj" fmla="val 16667"/>
            </a:avLst>
          </a:prstGeom>
          <a:solidFill>
            <a:srgbClr val="121A40"/>
          </a:solidFill>
          <a:ln/>
        </p:spPr>
      </p:sp>
      <p:sp>
        <p:nvSpPr>
          <p:cNvPr id="38" name="Text 36"/>
          <p:cNvSpPr/>
          <p:nvPr/>
        </p:nvSpPr>
        <p:spPr>
          <a:xfrm>
            <a:off x="7132320" y="2011680"/>
            <a:ext cx="841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n_layers: 2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8046720" y="2011680"/>
            <a:ext cx="841248" cy="274320"/>
          </a:xfrm>
          <a:prstGeom prst="roundRect">
            <a:avLst>
              <a:gd name="adj" fmla="val 16667"/>
            </a:avLst>
          </a:prstGeom>
          <a:solidFill>
            <a:srgbClr val="121A40"/>
          </a:solidFill>
          <a:ln/>
        </p:spPr>
      </p:sp>
      <p:sp>
        <p:nvSpPr>
          <p:cNvPr id="40" name="Text 38"/>
          <p:cNvSpPr/>
          <p:nvPr/>
        </p:nvSpPr>
        <p:spPr>
          <a:xfrm>
            <a:off x="8046720" y="2011680"/>
            <a:ext cx="841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n_heads: 4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217920" y="2395728"/>
            <a:ext cx="841248" cy="274320"/>
          </a:xfrm>
          <a:prstGeom prst="roundRect">
            <a:avLst>
              <a:gd name="adj" fmla="val 16667"/>
            </a:avLst>
          </a:prstGeom>
          <a:solidFill>
            <a:srgbClr val="121A40"/>
          </a:solidFill>
          <a:ln/>
        </p:spPr>
      </p:sp>
      <p:sp>
        <p:nvSpPr>
          <p:cNvPr id="42" name="Text 40"/>
          <p:cNvSpPr/>
          <p:nvPr/>
        </p:nvSpPr>
        <p:spPr>
          <a:xfrm>
            <a:off x="6217920" y="2395728"/>
            <a:ext cx="841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seq_len: 96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7132320" y="2395728"/>
            <a:ext cx="841248" cy="274320"/>
          </a:xfrm>
          <a:prstGeom prst="roundRect">
            <a:avLst>
              <a:gd name="adj" fmla="val 16667"/>
            </a:avLst>
          </a:prstGeom>
          <a:solidFill>
            <a:srgbClr val="121A40"/>
          </a:solidFill>
          <a:ln/>
        </p:spPr>
      </p:sp>
      <p:sp>
        <p:nvSpPr>
          <p:cNvPr id="44" name="Text 42"/>
          <p:cNvSpPr/>
          <p:nvPr/>
        </p:nvSpPr>
        <p:spPr>
          <a:xfrm>
            <a:off x="7132320" y="2395728"/>
            <a:ext cx="841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dropout: 0.20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8046720" y="2395728"/>
            <a:ext cx="841248" cy="274320"/>
          </a:xfrm>
          <a:prstGeom prst="roundRect">
            <a:avLst>
              <a:gd name="adj" fmla="val 16667"/>
            </a:avLst>
          </a:prstGeom>
          <a:solidFill>
            <a:srgbClr val="121A40"/>
          </a:solidFill>
          <a:ln/>
        </p:spPr>
      </p:sp>
      <p:sp>
        <p:nvSpPr>
          <p:cNvPr id="46" name="Text 44"/>
          <p:cNvSpPr/>
          <p:nvPr/>
        </p:nvSpPr>
        <p:spPr>
          <a:xfrm>
            <a:off x="8046720" y="2395728"/>
            <a:ext cx="841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params: 1.35M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8732520" y="2011680"/>
            <a:ext cx="594360" cy="804672"/>
          </a:xfrm>
          <a:prstGeom prst="roundRect">
            <a:avLst>
              <a:gd name="adj" fmla="val 9231"/>
            </a:avLst>
          </a:prstGeom>
          <a:solidFill>
            <a:srgbClr val="0D9488"/>
          </a:solidFill>
          <a:ln/>
        </p:spPr>
      </p:sp>
      <p:sp>
        <p:nvSpPr>
          <p:cNvPr id="48" name="Text 46"/>
          <p:cNvSpPr/>
          <p:nvPr/>
        </p:nvSpPr>
        <p:spPr>
          <a:xfrm>
            <a:off x="8732520" y="2029968"/>
            <a:ext cx="594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0.604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8732520" y="2395728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D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8732520" y="2596896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0.780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228600" y="2980944"/>
            <a:ext cx="868680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228600" y="2980944"/>
            <a:ext cx="54864" cy="9601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3" name="Text 51"/>
          <p:cNvSpPr/>
          <p:nvPr/>
        </p:nvSpPr>
        <p:spPr>
          <a:xfrm>
            <a:off x="365760" y="3035808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Transformer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365760" y="340156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195 331 params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2194560" y="303580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 → Conv1D (k=3,7,15) → Concat → Linear → Transformer Encoder × 2 → Pool → FC(3)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2194560" y="3438144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 locaux multi-échelles + attention globale — bon compromis taille/perf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6217920" y="3054096"/>
            <a:ext cx="841248" cy="274320"/>
          </a:xfrm>
          <a:prstGeom prst="roundRect">
            <a:avLst>
              <a:gd name="adj" fmla="val 16667"/>
            </a:avLst>
          </a:prstGeom>
          <a:solidFill>
            <a:srgbClr val="121A40"/>
          </a:solidFill>
          <a:ln/>
        </p:spPr>
      </p:sp>
      <p:sp>
        <p:nvSpPr>
          <p:cNvPr id="58" name="Text 56"/>
          <p:cNvSpPr/>
          <p:nvPr/>
        </p:nvSpPr>
        <p:spPr>
          <a:xfrm>
            <a:off x="6217920" y="3054096"/>
            <a:ext cx="841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d_model: 64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7132320" y="3054096"/>
            <a:ext cx="841248" cy="274320"/>
          </a:xfrm>
          <a:prstGeom prst="roundRect">
            <a:avLst>
              <a:gd name="adj" fmla="val 16667"/>
            </a:avLst>
          </a:prstGeom>
          <a:solidFill>
            <a:srgbClr val="121A40"/>
          </a:solidFill>
          <a:ln/>
        </p:spPr>
      </p:sp>
      <p:sp>
        <p:nvSpPr>
          <p:cNvPr id="60" name="Text 58"/>
          <p:cNvSpPr/>
          <p:nvPr/>
        </p:nvSpPr>
        <p:spPr>
          <a:xfrm>
            <a:off x="7132320" y="3054096"/>
            <a:ext cx="841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n_heads: 4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8046720" y="3054096"/>
            <a:ext cx="841248" cy="274320"/>
          </a:xfrm>
          <a:prstGeom prst="roundRect">
            <a:avLst>
              <a:gd name="adj" fmla="val 16667"/>
            </a:avLst>
          </a:prstGeom>
          <a:solidFill>
            <a:srgbClr val="121A40"/>
          </a:solidFill>
          <a:ln/>
        </p:spPr>
      </p:sp>
      <p:sp>
        <p:nvSpPr>
          <p:cNvPr id="62" name="Text 60"/>
          <p:cNvSpPr/>
          <p:nvPr/>
        </p:nvSpPr>
        <p:spPr>
          <a:xfrm>
            <a:off x="8046720" y="3054096"/>
            <a:ext cx="841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n_layers: 2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6217920" y="3438144"/>
            <a:ext cx="841248" cy="274320"/>
          </a:xfrm>
          <a:prstGeom prst="roundRect">
            <a:avLst>
              <a:gd name="adj" fmla="val 16667"/>
            </a:avLst>
          </a:prstGeom>
          <a:solidFill>
            <a:srgbClr val="121A40"/>
          </a:solidFill>
          <a:ln/>
        </p:spPr>
      </p:sp>
      <p:sp>
        <p:nvSpPr>
          <p:cNvPr id="64" name="Text 62"/>
          <p:cNvSpPr/>
          <p:nvPr/>
        </p:nvSpPr>
        <p:spPr>
          <a:xfrm>
            <a:off x="6217920" y="3438144"/>
            <a:ext cx="841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kernels: 3,7,15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7132320" y="3438144"/>
            <a:ext cx="841248" cy="274320"/>
          </a:xfrm>
          <a:prstGeom prst="roundRect">
            <a:avLst>
              <a:gd name="adj" fmla="val 16667"/>
            </a:avLst>
          </a:prstGeom>
          <a:solidFill>
            <a:srgbClr val="121A40"/>
          </a:solidFill>
          <a:ln/>
        </p:spPr>
      </p:sp>
      <p:sp>
        <p:nvSpPr>
          <p:cNvPr id="66" name="Text 64"/>
          <p:cNvSpPr/>
          <p:nvPr/>
        </p:nvSpPr>
        <p:spPr>
          <a:xfrm>
            <a:off x="7132320" y="3438144"/>
            <a:ext cx="841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dropout: 0.20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8046720" y="3438144"/>
            <a:ext cx="841248" cy="274320"/>
          </a:xfrm>
          <a:prstGeom prst="roundRect">
            <a:avLst>
              <a:gd name="adj" fmla="val 16667"/>
            </a:avLst>
          </a:prstGeom>
          <a:solidFill>
            <a:srgbClr val="121A40"/>
          </a:solidFill>
          <a:ln/>
        </p:spPr>
      </p:sp>
      <p:sp>
        <p:nvSpPr>
          <p:cNvPr id="68" name="Text 66"/>
          <p:cNvSpPr/>
          <p:nvPr/>
        </p:nvSpPr>
        <p:spPr>
          <a:xfrm>
            <a:off x="8046720" y="3438144"/>
            <a:ext cx="841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multi-scale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8732520" y="3054096"/>
            <a:ext cx="594360" cy="804672"/>
          </a:xfrm>
          <a:prstGeom prst="roundRect">
            <a:avLst>
              <a:gd name="adj" fmla="val 9231"/>
            </a:avLst>
          </a:prstGeom>
          <a:solidFill>
            <a:srgbClr val="2563EB"/>
          </a:solidFill>
          <a:ln/>
        </p:spPr>
      </p:sp>
      <p:sp>
        <p:nvSpPr>
          <p:cNvPr id="70" name="Text 68"/>
          <p:cNvSpPr/>
          <p:nvPr/>
        </p:nvSpPr>
        <p:spPr>
          <a:xfrm>
            <a:off x="8732520" y="3072384"/>
            <a:ext cx="594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0.593</a:t>
            </a:r>
            <a:endParaRPr lang="en-US" sz="1400" dirty="0"/>
          </a:p>
        </p:txBody>
      </p:sp>
      <p:sp>
        <p:nvSpPr>
          <p:cNvPr id="71" name="Text 69"/>
          <p:cNvSpPr/>
          <p:nvPr/>
        </p:nvSpPr>
        <p:spPr>
          <a:xfrm>
            <a:off x="8732520" y="3438144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D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8732520" y="3639312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0.775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228600" y="4023360"/>
            <a:ext cx="868680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4" name="Shape 72"/>
          <p:cNvSpPr/>
          <p:nvPr/>
        </p:nvSpPr>
        <p:spPr>
          <a:xfrm>
            <a:off x="228600" y="4023360"/>
            <a:ext cx="54864" cy="9601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5" name="Text 73"/>
          <p:cNvSpPr/>
          <p:nvPr/>
        </p:nvSpPr>
        <p:spPr>
          <a:xfrm>
            <a:off x="365760" y="4078224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TFT Lite</a:t>
            </a:r>
            <a:endParaRPr lang="en-US" sz="1300" dirty="0"/>
          </a:p>
        </p:txBody>
      </p:sp>
      <p:sp>
        <p:nvSpPr>
          <p:cNvPr id="76" name="Text 74"/>
          <p:cNvSpPr/>
          <p:nvPr/>
        </p:nvSpPr>
        <p:spPr>
          <a:xfrm>
            <a:off x="365760" y="4443984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152 295 params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2194560" y="4078224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 → Variable Selection → GRN → LSTM → Multi-Head Attn → FC(3)</a:t>
            </a:r>
            <a:endParaRPr lang="en-US" sz="850" dirty="0"/>
          </a:p>
        </p:txBody>
      </p:sp>
      <p:sp>
        <p:nvSpPr>
          <p:cNvPr id="78" name="Text 76"/>
          <p:cNvSpPr/>
          <p:nvPr/>
        </p:nvSpPr>
        <p:spPr>
          <a:xfrm>
            <a:off x="2194560" y="448056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Sous-convergé en 20 epochs — F1≈hasard (0.33). Nécessite lr=0.0001, 40+ epochs.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6217920" y="4096512"/>
            <a:ext cx="841248" cy="274320"/>
          </a:xfrm>
          <a:prstGeom prst="roundRect">
            <a:avLst>
              <a:gd name="adj" fmla="val 16667"/>
            </a:avLst>
          </a:prstGeom>
          <a:solidFill>
            <a:srgbClr val="991B1B"/>
          </a:solidFill>
          <a:ln/>
        </p:spPr>
      </p:sp>
      <p:sp>
        <p:nvSpPr>
          <p:cNvPr id="80" name="Text 78"/>
          <p:cNvSpPr/>
          <p:nvPr/>
        </p:nvSpPr>
        <p:spPr>
          <a:xfrm>
            <a:off x="6217920" y="4096512"/>
            <a:ext cx="841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d_model: 64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7132320" y="4096512"/>
            <a:ext cx="841248" cy="274320"/>
          </a:xfrm>
          <a:prstGeom prst="roundRect">
            <a:avLst>
              <a:gd name="adj" fmla="val 16667"/>
            </a:avLst>
          </a:prstGeom>
          <a:solidFill>
            <a:srgbClr val="991B1B"/>
          </a:solidFill>
          <a:ln/>
        </p:spPr>
      </p:sp>
      <p:sp>
        <p:nvSpPr>
          <p:cNvPr id="82" name="Text 80"/>
          <p:cNvSpPr/>
          <p:nvPr/>
        </p:nvSpPr>
        <p:spPr>
          <a:xfrm>
            <a:off x="7132320" y="4096512"/>
            <a:ext cx="841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n_heads: 4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8046720" y="4096512"/>
            <a:ext cx="841248" cy="274320"/>
          </a:xfrm>
          <a:prstGeom prst="roundRect">
            <a:avLst>
              <a:gd name="adj" fmla="val 16667"/>
            </a:avLst>
          </a:prstGeom>
          <a:solidFill>
            <a:srgbClr val="991B1B"/>
          </a:solidFill>
          <a:ln/>
        </p:spPr>
      </p:sp>
      <p:sp>
        <p:nvSpPr>
          <p:cNvPr id="84" name="Text 82"/>
          <p:cNvSpPr/>
          <p:nvPr/>
        </p:nvSpPr>
        <p:spPr>
          <a:xfrm>
            <a:off x="8046720" y="4096512"/>
            <a:ext cx="841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n_layers: 2</a:t>
            </a:r>
            <a:endParaRPr lang="en-US" sz="900" dirty="0"/>
          </a:p>
        </p:txBody>
      </p:sp>
      <p:sp>
        <p:nvSpPr>
          <p:cNvPr id="85" name="Shape 83"/>
          <p:cNvSpPr/>
          <p:nvPr/>
        </p:nvSpPr>
        <p:spPr>
          <a:xfrm>
            <a:off x="6217920" y="4480560"/>
            <a:ext cx="841248" cy="274320"/>
          </a:xfrm>
          <a:prstGeom prst="roundRect">
            <a:avLst>
              <a:gd name="adj" fmla="val 16667"/>
            </a:avLst>
          </a:prstGeom>
          <a:solidFill>
            <a:srgbClr val="991B1B"/>
          </a:solidFill>
          <a:ln/>
        </p:spPr>
      </p:sp>
      <p:sp>
        <p:nvSpPr>
          <p:cNvPr id="86" name="Text 84"/>
          <p:cNvSpPr/>
          <p:nvPr/>
        </p:nvSpPr>
        <p:spPr>
          <a:xfrm>
            <a:off x="6217920" y="4480560"/>
            <a:ext cx="841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GRN gating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7132320" y="4480560"/>
            <a:ext cx="841248" cy="274320"/>
          </a:xfrm>
          <a:prstGeom prst="roundRect">
            <a:avLst>
              <a:gd name="adj" fmla="val 16667"/>
            </a:avLst>
          </a:prstGeom>
          <a:solidFill>
            <a:srgbClr val="991B1B"/>
          </a:solidFill>
          <a:ln/>
        </p:spPr>
      </p:sp>
      <p:sp>
        <p:nvSpPr>
          <p:cNvPr id="88" name="Text 86"/>
          <p:cNvSpPr/>
          <p:nvPr/>
        </p:nvSpPr>
        <p:spPr>
          <a:xfrm>
            <a:off x="7132320" y="4480560"/>
            <a:ext cx="841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dropout: 0.20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8046720" y="4480560"/>
            <a:ext cx="841248" cy="274320"/>
          </a:xfrm>
          <a:prstGeom prst="roundRect">
            <a:avLst>
              <a:gd name="adj" fmla="val 16667"/>
            </a:avLst>
          </a:prstGeom>
          <a:solidFill>
            <a:srgbClr val="991B1B"/>
          </a:solidFill>
          <a:ln/>
        </p:spPr>
      </p:sp>
      <p:sp>
        <p:nvSpPr>
          <p:cNvPr id="90" name="Text 88"/>
          <p:cNvSpPr/>
          <p:nvPr/>
        </p:nvSpPr>
        <p:spPr>
          <a:xfrm>
            <a:off x="8046720" y="4480560"/>
            <a:ext cx="841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exclu ensemble</a:t>
            </a:r>
            <a:endParaRPr lang="en-US" sz="900" dirty="0"/>
          </a:p>
        </p:txBody>
      </p:sp>
      <p:sp>
        <p:nvSpPr>
          <p:cNvPr id="91" name="Shape 89"/>
          <p:cNvSpPr/>
          <p:nvPr/>
        </p:nvSpPr>
        <p:spPr>
          <a:xfrm>
            <a:off x="8732520" y="4096512"/>
            <a:ext cx="594360" cy="804672"/>
          </a:xfrm>
          <a:prstGeom prst="roundRect">
            <a:avLst>
              <a:gd name="adj" fmla="val 9231"/>
            </a:avLst>
          </a:prstGeom>
          <a:solidFill>
            <a:srgbClr val="EF4444"/>
          </a:solidFill>
          <a:ln/>
        </p:spPr>
      </p:sp>
      <p:sp>
        <p:nvSpPr>
          <p:cNvPr id="92" name="Text 90"/>
          <p:cNvSpPr/>
          <p:nvPr/>
        </p:nvSpPr>
        <p:spPr>
          <a:xfrm>
            <a:off x="8732520" y="4114800"/>
            <a:ext cx="594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0.401</a:t>
            </a:r>
            <a:endParaRPr lang="en-US" sz="1400" dirty="0"/>
          </a:p>
        </p:txBody>
      </p:sp>
      <p:sp>
        <p:nvSpPr>
          <p:cNvPr id="93" name="Text 91"/>
          <p:cNvSpPr/>
          <p:nvPr/>
        </p:nvSpPr>
        <p:spPr>
          <a:xfrm>
            <a:off x="8732520" y="448056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D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endParaRPr lang="en-US" sz="800" dirty="0"/>
          </a:p>
        </p:txBody>
      </p:sp>
      <p:sp>
        <p:nvSpPr>
          <p:cNvPr id="94" name="Text 92"/>
          <p:cNvSpPr/>
          <p:nvPr/>
        </p:nvSpPr>
        <p:spPr>
          <a:xfrm>
            <a:off x="8732520" y="4681728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0.620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21A40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68580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Protocole d'entraînement complet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20116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3/8 · Notebook 12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8869680" y="4892040"/>
            <a:ext cx="274320" cy="2286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8869680" y="489204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28600" y="86868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Hyperparamètres fixes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8600" y="1216152"/>
            <a:ext cx="411480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292608" y="1252728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21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Optimiseur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554480" y="1252728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AdamW  (lr=3e-4, wd=1e-4)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28600" y="1581912"/>
            <a:ext cx="4114800" cy="329184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12" name="Text 10"/>
          <p:cNvSpPr/>
          <p:nvPr/>
        </p:nvSpPr>
        <p:spPr>
          <a:xfrm>
            <a:off x="292608" y="1618488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21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554480" y="1618488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CrossEntropyLoss + label_smoothing=0.02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28600" y="1947672"/>
            <a:ext cx="411480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292608" y="1984248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21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size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554480" y="1984248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64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28600" y="2313432"/>
            <a:ext cx="4114800" cy="329184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18" name="Text 16"/>
          <p:cNvSpPr/>
          <p:nvPr/>
        </p:nvSpPr>
        <p:spPr>
          <a:xfrm>
            <a:off x="292608" y="2350008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21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Epochs max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554480" y="2350008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28600" y="2679192"/>
            <a:ext cx="411480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292608" y="2715768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21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stopping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554480" y="2715768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patience=6 sur F1-macro val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28600" y="3044952"/>
            <a:ext cx="4114800" cy="329184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24" name="Text 22"/>
          <p:cNvSpPr/>
          <p:nvPr/>
        </p:nvSpPr>
        <p:spPr>
          <a:xfrm>
            <a:off x="292608" y="3081528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21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 clipping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554480" y="3081528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max_norm=1.0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28600" y="3410712"/>
            <a:ext cx="411480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292608" y="3447288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21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554480" y="3447288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ReduceLROnPlateau (factor=0.5, patience=2)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28600" y="3776472"/>
            <a:ext cx="4114800" cy="329184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30" name="Text 28"/>
          <p:cNvSpPr/>
          <p:nvPr/>
        </p:nvSpPr>
        <p:spPr>
          <a:xfrm>
            <a:off x="292608" y="3813048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21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Équilibrage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554480" y="3813048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WeightedRandomSampler + class_weight balanced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28600" y="4142232"/>
            <a:ext cx="411480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292608" y="4178808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21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554480" y="4178808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0.20 sur tous les modèles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28600" y="4507992"/>
            <a:ext cx="4114800" cy="329184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36" name="Text 34"/>
          <p:cNvSpPr/>
          <p:nvPr/>
        </p:nvSpPr>
        <p:spPr>
          <a:xfrm>
            <a:off x="292608" y="4544568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21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554480" y="4544568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T4 CUDA (Google Colab)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617720" y="868680"/>
            <a:ext cx="4251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 Tracking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617720" y="1188720"/>
            <a:ext cx="4251960" cy="822960"/>
          </a:xfrm>
          <a:prstGeom prst="roundRect">
            <a:avLst>
              <a:gd name="adj" fmla="val 8889"/>
            </a:avLst>
          </a:prstGeom>
          <a:solidFill>
            <a:srgbClr val="121A40"/>
          </a:solidFill>
          <a:ln/>
        </p:spPr>
      </p:sp>
      <p:sp>
        <p:nvSpPr>
          <p:cNvPr id="40" name="Text 38"/>
          <p:cNvSpPr/>
          <p:nvPr/>
        </p:nvSpPr>
        <p:spPr>
          <a:xfrm>
            <a:off x="4709160" y="121615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Expérience :  PatchTST-Trading-MultiModel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709160" y="149047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Metrics / epoch :  train_loss · val_acc · val_f1_macro · val_auc_ovr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709160" y="1764792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A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Artifacts :  model.pt · metrics.json · classification report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4617720" y="2148840"/>
            <a:ext cx="4251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test set — 4 modèles</a:t>
            </a:r>
            <a:endParaRPr lang="en-US" sz="1100" dirty="0"/>
          </a:p>
        </p:txBody>
      </p:sp>
      <p:graphicFrame>
        <p:nvGraphicFramePr>
          <p:cNvPr id="44" name="Chart 0" descr=""/>
          <p:cNvGraphicFramePr/>
          <p:nvPr/>
        </p:nvGraphicFramePr>
        <p:xfrm>
          <a:off x="4617720" y="2487168"/>
          <a:ext cx="4251960" cy="2423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21A40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68580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Optuna NSGAIISampler — Optimisation multi-objectif Pareto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20116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4/8 · Notebook 13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8869680" y="4892040"/>
            <a:ext cx="274320" cy="2286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8869680" y="489204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28600" y="868680"/>
            <a:ext cx="8686800" cy="502920"/>
          </a:xfrm>
          <a:prstGeom prst="rect">
            <a:avLst/>
          </a:prstGeom>
          <a:solidFill>
            <a:srgbClr val="121A40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960120"/>
            <a:ext cx="1325880" cy="274320"/>
          </a:xfrm>
          <a:prstGeom prst="roundRect">
            <a:avLst>
              <a:gd name="adj" fmla="val 16667"/>
            </a:avLst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96012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NSGAIISampler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783080" y="960120"/>
            <a:ext cx="1325880" cy="274320"/>
          </a:xfrm>
          <a:prstGeom prst="roundRect">
            <a:avLst>
              <a:gd name="adj" fmla="val 16667"/>
            </a:avLst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1783080" y="96012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trials / modèle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46120" y="960120"/>
            <a:ext cx="1325880" cy="274320"/>
          </a:xfrm>
          <a:prstGeom prst="roundRect">
            <a:avLst>
              <a:gd name="adj" fmla="val 16667"/>
            </a:avLst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3246120" y="96012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 trials total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09160" y="960120"/>
            <a:ext cx="1325880" cy="274320"/>
          </a:xfrm>
          <a:prstGeom prst="roundRect">
            <a:avLst>
              <a:gd name="adj" fmla="val 16667"/>
            </a:avLst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4709160" y="96012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Objectifs: F1-macro + Sharpe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172200" y="960120"/>
            <a:ext cx="1325880" cy="274320"/>
          </a:xfrm>
          <a:prstGeom prst="roundRect">
            <a:avLst>
              <a:gd name="adj" fmla="val 16667"/>
            </a:avLst>
          </a:prstGeom>
          <a:solidFill>
            <a:srgbClr val="2563EB"/>
          </a:solidFill>
          <a:ln/>
        </p:spPr>
      </p:sp>
      <p:sp>
        <p:nvSpPr>
          <p:cNvPr id="17" name="Text 15"/>
          <p:cNvSpPr/>
          <p:nvPr/>
        </p:nvSpPr>
        <p:spPr>
          <a:xfrm>
            <a:off x="6172200" y="96012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w_F1=0.6  w_Sharpe=0.4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635240" y="960120"/>
            <a:ext cx="1325880" cy="274320"/>
          </a:xfrm>
          <a:prstGeom prst="roundRect">
            <a:avLst>
              <a:gd name="adj" fmla="val 16667"/>
            </a:avLst>
          </a:prstGeom>
          <a:solidFill>
            <a:srgbClr val="2563EB"/>
          </a:solidFill>
          <a:ln/>
        </p:spPr>
      </p:sp>
      <p:sp>
        <p:nvSpPr>
          <p:cNvPr id="19" name="Text 17"/>
          <p:cNvSpPr/>
          <p:nvPr/>
        </p:nvSpPr>
        <p:spPr>
          <a:xfrm>
            <a:off x="7635240" y="96012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epochs/trial  →  25 final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28600" y="1481328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Espace de recherche (11 hyperparamètres)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8600" y="1783080"/>
            <a:ext cx="411480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283464" y="1828800"/>
            <a:ext cx="960120" cy="274320"/>
          </a:xfrm>
          <a:prstGeom prst="roundRect">
            <a:avLst>
              <a:gd name="adj" fmla="val 16667"/>
            </a:avLst>
          </a:prstGeom>
          <a:solidFill>
            <a:srgbClr val="121A40"/>
          </a:solidFill>
          <a:ln/>
        </p:spPr>
      </p:sp>
      <p:sp>
        <p:nvSpPr>
          <p:cNvPr id="23" name="Text 21"/>
          <p:cNvSpPr/>
          <p:nvPr/>
        </p:nvSpPr>
        <p:spPr>
          <a:xfrm>
            <a:off x="283464" y="182880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lr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280160" y="1837944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log-float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2148840" y="1819656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[1e-4, 5e-3]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593592" y="1837944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Tous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228600" y="2139696"/>
            <a:ext cx="4114800" cy="32004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28" name="Shape 26"/>
          <p:cNvSpPr/>
          <p:nvPr/>
        </p:nvSpPr>
        <p:spPr>
          <a:xfrm>
            <a:off x="283464" y="2185416"/>
            <a:ext cx="960120" cy="274320"/>
          </a:xfrm>
          <a:prstGeom prst="roundRect">
            <a:avLst>
              <a:gd name="adj" fmla="val 16667"/>
            </a:avLst>
          </a:prstGeom>
          <a:solidFill>
            <a:srgbClr val="121A40"/>
          </a:solidFill>
          <a:ln/>
        </p:spPr>
      </p:sp>
      <p:sp>
        <p:nvSpPr>
          <p:cNvPr id="29" name="Text 27"/>
          <p:cNvSpPr/>
          <p:nvPr/>
        </p:nvSpPr>
        <p:spPr>
          <a:xfrm>
            <a:off x="283464" y="2185416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dropout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280160" y="219456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2148840" y="2176272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[0.1, 0.5]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593592" y="2194560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Tous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228600" y="2496312"/>
            <a:ext cx="411480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Shape 32"/>
          <p:cNvSpPr/>
          <p:nvPr/>
        </p:nvSpPr>
        <p:spPr>
          <a:xfrm>
            <a:off x="283464" y="2542032"/>
            <a:ext cx="960120" cy="274320"/>
          </a:xfrm>
          <a:prstGeom prst="roundRect">
            <a:avLst>
              <a:gd name="adj" fmla="val 16667"/>
            </a:avLst>
          </a:prstGeom>
          <a:solidFill>
            <a:srgbClr val="121A40"/>
          </a:solidFill>
          <a:ln/>
        </p:spPr>
      </p:sp>
      <p:sp>
        <p:nvSpPr>
          <p:cNvPr id="35" name="Text 33"/>
          <p:cNvSpPr/>
          <p:nvPr/>
        </p:nvSpPr>
        <p:spPr>
          <a:xfrm>
            <a:off x="283464" y="254203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seq_len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280160" y="2551176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2148840" y="2532888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{48, 96}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593592" y="2551176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Tous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228600" y="2852928"/>
            <a:ext cx="4114800" cy="32004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40" name="Shape 38"/>
          <p:cNvSpPr/>
          <p:nvPr/>
        </p:nvSpPr>
        <p:spPr>
          <a:xfrm>
            <a:off x="283464" y="2898648"/>
            <a:ext cx="960120" cy="274320"/>
          </a:xfrm>
          <a:prstGeom prst="roundRect">
            <a:avLst>
              <a:gd name="adj" fmla="val 16667"/>
            </a:avLst>
          </a:prstGeom>
          <a:solidFill>
            <a:srgbClr val="121A40"/>
          </a:solidFill>
          <a:ln/>
        </p:spPr>
      </p:sp>
      <p:sp>
        <p:nvSpPr>
          <p:cNvPr id="41" name="Text 39"/>
          <p:cNvSpPr/>
          <p:nvPr/>
        </p:nvSpPr>
        <p:spPr>
          <a:xfrm>
            <a:off x="283464" y="2898648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batch_size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280160" y="2907792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2148840" y="2889504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{32,64,128}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3593592" y="2907792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Tous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228600" y="3209544"/>
            <a:ext cx="411480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6" name="Shape 44"/>
          <p:cNvSpPr/>
          <p:nvPr/>
        </p:nvSpPr>
        <p:spPr>
          <a:xfrm>
            <a:off x="283464" y="3255264"/>
            <a:ext cx="960120" cy="274320"/>
          </a:xfrm>
          <a:prstGeom prst="roundRect">
            <a:avLst>
              <a:gd name="adj" fmla="val 16667"/>
            </a:avLst>
          </a:prstGeom>
          <a:solidFill>
            <a:srgbClr val="121A40"/>
          </a:solidFill>
          <a:ln/>
        </p:spPr>
      </p:sp>
      <p:sp>
        <p:nvSpPr>
          <p:cNvPr id="47" name="Text 45"/>
          <p:cNvSpPr/>
          <p:nvPr/>
        </p:nvSpPr>
        <p:spPr>
          <a:xfrm>
            <a:off x="283464" y="3255264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buy/sell_thr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280160" y="3264408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2148840" y="3246120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[0.004, 0.015]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3593592" y="3264408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Tous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228600" y="3566160"/>
            <a:ext cx="4114800" cy="32004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52" name="Shape 50"/>
          <p:cNvSpPr/>
          <p:nvPr/>
        </p:nvSpPr>
        <p:spPr>
          <a:xfrm>
            <a:off x="283464" y="3611880"/>
            <a:ext cx="960120" cy="274320"/>
          </a:xfrm>
          <a:prstGeom prst="roundRect">
            <a:avLst>
              <a:gd name="adj" fmla="val 16667"/>
            </a:avLst>
          </a:prstGeom>
          <a:solidFill>
            <a:srgbClr val="121A40"/>
          </a:solidFill>
          <a:ln/>
        </p:spPr>
      </p:sp>
      <p:sp>
        <p:nvSpPr>
          <p:cNvPr id="53" name="Text 51"/>
          <p:cNvSpPr/>
          <p:nvPr/>
        </p:nvSpPr>
        <p:spPr>
          <a:xfrm>
            <a:off x="283464" y="361188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d_model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1280160" y="3621024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2148840" y="3602736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{32,64,128}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3593592" y="3621024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PatchTST, CNN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4480560" y="1783080"/>
            <a:ext cx="411480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8" name="Shape 56"/>
          <p:cNvSpPr/>
          <p:nvPr/>
        </p:nvSpPr>
        <p:spPr>
          <a:xfrm>
            <a:off x="4535424" y="1828800"/>
            <a:ext cx="960120" cy="274320"/>
          </a:xfrm>
          <a:prstGeom prst="roundRect">
            <a:avLst>
              <a:gd name="adj" fmla="val 16667"/>
            </a:avLst>
          </a:prstGeom>
          <a:solidFill>
            <a:srgbClr val="121A40"/>
          </a:solidFill>
          <a:ln/>
        </p:spPr>
      </p:sp>
      <p:sp>
        <p:nvSpPr>
          <p:cNvPr id="59" name="Text 57"/>
          <p:cNvSpPr/>
          <p:nvPr/>
        </p:nvSpPr>
        <p:spPr>
          <a:xfrm>
            <a:off x="4535424" y="182880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n_layers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5532120" y="1837944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6400800" y="1819656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[1,4] (5 PatchTST)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7845552" y="1837944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Tous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4480560" y="2139696"/>
            <a:ext cx="4114800" cy="32004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64" name="Shape 62"/>
          <p:cNvSpPr/>
          <p:nvPr/>
        </p:nvSpPr>
        <p:spPr>
          <a:xfrm>
            <a:off x="4535424" y="2185416"/>
            <a:ext cx="960120" cy="274320"/>
          </a:xfrm>
          <a:prstGeom prst="roundRect">
            <a:avLst>
              <a:gd name="adj" fmla="val 16667"/>
            </a:avLst>
          </a:prstGeom>
          <a:solidFill>
            <a:srgbClr val="121A40"/>
          </a:solidFill>
          <a:ln/>
        </p:spPr>
      </p:sp>
      <p:sp>
        <p:nvSpPr>
          <p:cNvPr id="65" name="Text 63"/>
          <p:cNvSpPr/>
          <p:nvPr/>
        </p:nvSpPr>
        <p:spPr>
          <a:xfrm>
            <a:off x="4535424" y="2185416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hidden_dim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5532120" y="219456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6400800" y="2176272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{64,128,256}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7845552" y="2194560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seul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4480560" y="2496312"/>
            <a:ext cx="411480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0" name="Shape 68"/>
          <p:cNvSpPr/>
          <p:nvPr/>
        </p:nvSpPr>
        <p:spPr>
          <a:xfrm>
            <a:off x="4535424" y="2542032"/>
            <a:ext cx="960120" cy="274320"/>
          </a:xfrm>
          <a:prstGeom prst="roundRect">
            <a:avLst>
              <a:gd name="adj" fmla="val 16667"/>
            </a:avLst>
          </a:prstGeom>
          <a:solidFill>
            <a:srgbClr val="121A40"/>
          </a:solidFill>
          <a:ln/>
        </p:spPr>
      </p:sp>
      <p:sp>
        <p:nvSpPr>
          <p:cNvPr id="71" name="Text 69"/>
          <p:cNvSpPr/>
          <p:nvPr/>
        </p:nvSpPr>
        <p:spPr>
          <a:xfrm>
            <a:off x="4535424" y="254203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patch_len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5532120" y="2551176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6400800" y="2532888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{8,12,16}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7845552" y="2551176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PatchTST seul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4480560" y="2852928"/>
            <a:ext cx="4114800" cy="32004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76" name="Shape 74"/>
          <p:cNvSpPr/>
          <p:nvPr/>
        </p:nvSpPr>
        <p:spPr>
          <a:xfrm>
            <a:off x="4535424" y="2898648"/>
            <a:ext cx="960120" cy="274320"/>
          </a:xfrm>
          <a:prstGeom prst="roundRect">
            <a:avLst>
              <a:gd name="adj" fmla="val 16667"/>
            </a:avLst>
          </a:prstGeom>
          <a:solidFill>
            <a:srgbClr val="121A40"/>
          </a:solidFill>
          <a:ln/>
        </p:spPr>
      </p:sp>
      <p:sp>
        <p:nvSpPr>
          <p:cNvPr id="77" name="Text 75"/>
          <p:cNvSpPr/>
          <p:nvPr/>
        </p:nvSpPr>
        <p:spPr>
          <a:xfrm>
            <a:off x="4535424" y="2898648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n_heads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5532120" y="2907792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</a:t>
            </a:r>
            <a:endParaRPr lang="en-US" sz="800" dirty="0"/>
          </a:p>
        </p:txBody>
      </p:sp>
      <p:sp>
        <p:nvSpPr>
          <p:cNvPr id="79" name="Text 77"/>
          <p:cNvSpPr/>
          <p:nvPr/>
        </p:nvSpPr>
        <p:spPr>
          <a:xfrm>
            <a:off x="6400800" y="2889504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{2,4,8}</a:t>
            </a:r>
            <a:endParaRPr lang="en-US" sz="900" dirty="0"/>
          </a:p>
        </p:txBody>
      </p:sp>
      <p:sp>
        <p:nvSpPr>
          <p:cNvPr id="80" name="Text 78"/>
          <p:cNvSpPr/>
          <p:nvPr/>
        </p:nvSpPr>
        <p:spPr>
          <a:xfrm>
            <a:off x="7845552" y="2907792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Tous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4480560" y="3209544"/>
            <a:ext cx="411480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2" name="Shape 80"/>
          <p:cNvSpPr/>
          <p:nvPr/>
        </p:nvSpPr>
        <p:spPr>
          <a:xfrm>
            <a:off x="4535424" y="3255264"/>
            <a:ext cx="960120" cy="274320"/>
          </a:xfrm>
          <a:prstGeom prst="roundRect">
            <a:avLst>
              <a:gd name="adj" fmla="val 16667"/>
            </a:avLst>
          </a:prstGeom>
          <a:solidFill>
            <a:srgbClr val="121A40"/>
          </a:solidFill>
          <a:ln/>
        </p:spPr>
      </p:sp>
      <p:sp>
        <p:nvSpPr>
          <p:cNvPr id="83" name="Text 81"/>
          <p:cNvSpPr/>
          <p:nvPr/>
        </p:nvSpPr>
        <p:spPr>
          <a:xfrm>
            <a:off x="4535424" y="3255264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weight_decay</a:t>
            </a:r>
            <a:endParaRPr lang="en-US" sz="900" dirty="0"/>
          </a:p>
        </p:txBody>
      </p:sp>
      <p:sp>
        <p:nvSpPr>
          <p:cNvPr id="84" name="Text 82"/>
          <p:cNvSpPr/>
          <p:nvPr/>
        </p:nvSpPr>
        <p:spPr>
          <a:xfrm>
            <a:off x="5532120" y="3264408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log-float</a:t>
            </a:r>
            <a:endParaRPr lang="en-US" sz="800" dirty="0"/>
          </a:p>
        </p:txBody>
      </p:sp>
      <p:sp>
        <p:nvSpPr>
          <p:cNvPr id="85" name="Text 83"/>
          <p:cNvSpPr/>
          <p:nvPr/>
        </p:nvSpPr>
        <p:spPr>
          <a:xfrm>
            <a:off x="6400800" y="3246120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[1e-5,1e-2]</a:t>
            </a:r>
            <a:endParaRPr lang="en-US" sz="900" dirty="0"/>
          </a:p>
        </p:txBody>
      </p:sp>
      <p:sp>
        <p:nvSpPr>
          <p:cNvPr id="86" name="Text 84"/>
          <p:cNvSpPr/>
          <p:nvPr/>
        </p:nvSpPr>
        <p:spPr>
          <a:xfrm>
            <a:off x="7845552" y="3264408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Tous</a:t>
            </a:r>
            <a:endParaRPr lang="en-US" sz="800" dirty="0"/>
          </a:p>
        </p:txBody>
      </p:sp>
      <p:sp>
        <p:nvSpPr>
          <p:cNvPr id="87" name="Text 85"/>
          <p:cNvSpPr/>
          <p:nvPr/>
        </p:nvSpPr>
        <p:spPr>
          <a:xfrm>
            <a:off x="228600" y="39593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front de Pareto → entraînement final</a:t>
            </a:r>
            <a:endParaRPr lang="en-US" sz="1000" dirty="0"/>
          </a:p>
        </p:txBody>
      </p:sp>
      <p:sp>
        <p:nvSpPr>
          <p:cNvPr id="88" name="Shape 86"/>
          <p:cNvSpPr/>
          <p:nvPr/>
        </p:nvSpPr>
        <p:spPr>
          <a:xfrm>
            <a:off x="228600" y="4251960"/>
            <a:ext cx="1280160" cy="320040"/>
          </a:xfrm>
          <a:prstGeom prst="rect">
            <a:avLst/>
          </a:prstGeom>
          <a:solidFill>
            <a:srgbClr val="121A40"/>
          </a:solidFill>
          <a:ln/>
        </p:spPr>
      </p:sp>
      <p:sp>
        <p:nvSpPr>
          <p:cNvPr id="89" name="Text 87"/>
          <p:cNvSpPr/>
          <p:nvPr/>
        </p:nvSpPr>
        <p:spPr>
          <a:xfrm>
            <a:off x="228600" y="425196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1527048" y="4251960"/>
            <a:ext cx="548640" cy="320040"/>
          </a:xfrm>
          <a:prstGeom prst="rect">
            <a:avLst/>
          </a:prstGeom>
          <a:solidFill>
            <a:srgbClr val="121A40"/>
          </a:solidFill>
          <a:ln/>
        </p:spPr>
      </p:sp>
      <p:sp>
        <p:nvSpPr>
          <p:cNvPr id="91" name="Text 89"/>
          <p:cNvSpPr/>
          <p:nvPr/>
        </p:nvSpPr>
        <p:spPr>
          <a:xfrm>
            <a:off x="1527048" y="42519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2093976" y="4251960"/>
            <a:ext cx="822960" cy="320040"/>
          </a:xfrm>
          <a:prstGeom prst="rect">
            <a:avLst/>
          </a:prstGeom>
          <a:solidFill>
            <a:srgbClr val="121A40"/>
          </a:solidFill>
          <a:ln/>
        </p:spPr>
      </p:sp>
      <p:sp>
        <p:nvSpPr>
          <p:cNvPr id="93" name="Text 91"/>
          <p:cNvSpPr/>
          <p:nvPr/>
        </p:nvSpPr>
        <p:spPr>
          <a:xfrm>
            <a:off x="2093976" y="425196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val</a:t>
            </a: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2935224" y="4251960"/>
            <a:ext cx="822960" cy="320040"/>
          </a:xfrm>
          <a:prstGeom prst="rect">
            <a:avLst/>
          </a:prstGeom>
          <a:solidFill>
            <a:srgbClr val="121A40"/>
          </a:solidFill>
          <a:ln/>
        </p:spPr>
      </p:sp>
      <p:sp>
        <p:nvSpPr>
          <p:cNvPr id="95" name="Text 93"/>
          <p:cNvSpPr/>
          <p:nvPr/>
        </p:nvSpPr>
        <p:spPr>
          <a:xfrm>
            <a:off x="2935224" y="425196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 val</a:t>
            </a:r>
            <a:endParaRPr lang="en-US" sz="900" dirty="0"/>
          </a:p>
        </p:txBody>
      </p:sp>
      <p:sp>
        <p:nvSpPr>
          <p:cNvPr id="96" name="Shape 94"/>
          <p:cNvSpPr/>
          <p:nvPr/>
        </p:nvSpPr>
        <p:spPr>
          <a:xfrm>
            <a:off x="3776472" y="4251960"/>
            <a:ext cx="822960" cy="320040"/>
          </a:xfrm>
          <a:prstGeom prst="rect">
            <a:avLst/>
          </a:prstGeom>
          <a:solidFill>
            <a:srgbClr val="121A40"/>
          </a:solidFill>
          <a:ln/>
        </p:spPr>
      </p:sp>
      <p:sp>
        <p:nvSpPr>
          <p:cNvPr id="97" name="Text 95"/>
          <p:cNvSpPr/>
          <p:nvPr/>
        </p:nvSpPr>
        <p:spPr>
          <a:xfrm>
            <a:off x="3776472" y="425196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test</a:t>
            </a:r>
            <a:endParaRPr lang="en-US" sz="900" dirty="0"/>
          </a:p>
        </p:txBody>
      </p:sp>
      <p:sp>
        <p:nvSpPr>
          <p:cNvPr id="98" name="Shape 96"/>
          <p:cNvSpPr/>
          <p:nvPr/>
        </p:nvSpPr>
        <p:spPr>
          <a:xfrm>
            <a:off x="4617720" y="4251960"/>
            <a:ext cx="822960" cy="320040"/>
          </a:xfrm>
          <a:prstGeom prst="rect">
            <a:avLst/>
          </a:prstGeom>
          <a:solidFill>
            <a:srgbClr val="121A40"/>
          </a:solidFill>
          <a:ln/>
        </p:spPr>
      </p:sp>
      <p:sp>
        <p:nvSpPr>
          <p:cNvPr id="99" name="Text 97"/>
          <p:cNvSpPr/>
          <p:nvPr/>
        </p:nvSpPr>
        <p:spPr>
          <a:xfrm>
            <a:off x="4617720" y="425196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 test</a:t>
            </a:r>
            <a:endParaRPr lang="en-US" sz="900" dirty="0"/>
          </a:p>
        </p:txBody>
      </p:sp>
      <p:sp>
        <p:nvSpPr>
          <p:cNvPr id="100" name="Shape 98"/>
          <p:cNvSpPr/>
          <p:nvPr/>
        </p:nvSpPr>
        <p:spPr>
          <a:xfrm>
            <a:off x="5458968" y="4251960"/>
            <a:ext cx="822960" cy="320040"/>
          </a:xfrm>
          <a:prstGeom prst="rect">
            <a:avLst/>
          </a:prstGeom>
          <a:solidFill>
            <a:srgbClr val="121A40"/>
          </a:solidFill>
          <a:ln/>
        </p:spPr>
      </p:sp>
      <p:sp>
        <p:nvSpPr>
          <p:cNvPr id="101" name="Text 99"/>
          <p:cNvSpPr/>
          <p:nvPr/>
        </p:nvSpPr>
        <p:spPr>
          <a:xfrm>
            <a:off x="5458968" y="425196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</a:t>
            </a:r>
            <a:endParaRPr lang="en-US" sz="900" dirty="0"/>
          </a:p>
        </p:txBody>
      </p:sp>
      <p:sp>
        <p:nvSpPr>
          <p:cNvPr id="102" name="Shape 100"/>
          <p:cNvSpPr/>
          <p:nvPr/>
        </p:nvSpPr>
        <p:spPr>
          <a:xfrm>
            <a:off x="6300216" y="4251960"/>
            <a:ext cx="640080" cy="320040"/>
          </a:xfrm>
          <a:prstGeom prst="rect">
            <a:avLst/>
          </a:prstGeom>
          <a:solidFill>
            <a:srgbClr val="121A40"/>
          </a:solidFill>
          <a:ln/>
        </p:spPr>
      </p:sp>
      <p:sp>
        <p:nvSpPr>
          <p:cNvPr id="103" name="Text 101"/>
          <p:cNvSpPr/>
          <p:nvPr/>
        </p:nvSpPr>
        <p:spPr>
          <a:xfrm>
            <a:off x="6300216" y="42519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F1</a:t>
            </a:r>
            <a:endParaRPr lang="en-US" sz="900" dirty="0"/>
          </a:p>
        </p:txBody>
      </p:sp>
      <p:sp>
        <p:nvSpPr>
          <p:cNvPr id="104" name="Shape 102"/>
          <p:cNvSpPr/>
          <p:nvPr/>
        </p:nvSpPr>
        <p:spPr>
          <a:xfrm>
            <a:off x="228600" y="4599432"/>
            <a:ext cx="128016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5" name="Shape 103"/>
          <p:cNvSpPr/>
          <p:nvPr/>
        </p:nvSpPr>
        <p:spPr>
          <a:xfrm>
            <a:off x="228600" y="4599432"/>
            <a:ext cx="36576" cy="31089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6" name="Text 104"/>
          <p:cNvSpPr/>
          <p:nvPr/>
        </p:nvSpPr>
        <p:spPr>
          <a:xfrm>
            <a:off x="265176" y="4599432"/>
            <a:ext cx="12435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PatchTST</a:t>
            </a:r>
            <a:endParaRPr lang="en-US" sz="900" dirty="0"/>
          </a:p>
        </p:txBody>
      </p:sp>
      <p:sp>
        <p:nvSpPr>
          <p:cNvPr id="107" name="Shape 105"/>
          <p:cNvSpPr/>
          <p:nvPr/>
        </p:nvSpPr>
        <p:spPr>
          <a:xfrm>
            <a:off x="1527048" y="4599432"/>
            <a:ext cx="54864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8" name="Shape 106"/>
          <p:cNvSpPr/>
          <p:nvPr/>
        </p:nvSpPr>
        <p:spPr>
          <a:xfrm>
            <a:off x="1527048" y="4599432"/>
            <a:ext cx="36576" cy="31089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9" name="Text 107"/>
          <p:cNvSpPr/>
          <p:nvPr/>
        </p:nvSpPr>
        <p:spPr>
          <a:xfrm>
            <a:off x="1563624" y="4599432"/>
            <a:ext cx="5120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#9</a:t>
            </a:r>
            <a:endParaRPr lang="en-US" sz="900" dirty="0"/>
          </a:p>
        </p:txBody>
      </p:sp>
      <p:sp>
        <p:nvSpPr>
          <p:cNvPr id="110" name="Shape 108"/>
          <p:cNvSpPr/>
          <p:nvPr/>
        </p:nvSpPr>
        <p:spPr>
          <a:xfrm>
            <a:off x="2093976" y="4599432"/>
            <a:ext cx="82296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1" name="Shape 109"/>
          <p:cNvSpPr/>
          <p:nvPr/>
        </p:nvSpPr>
        <p:spPr>
          <a:xfrm>
            <a:off x="2093976" y="4599432"/>
            <a:ext cx="36576" cy="31089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2" name="Text 110"/>
          <p:cNvSpPr/>
          <p:nvPr/>
        </p:nvSpPr>
        <p:spPr>
          <a:xfrm>
            <a:off x="2130552" y="4599432"/>
            <a:ext cx="7863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0.516</a:t>
            </a:r>
            <a:endParaRPr lang="en-US" sz="900" dirty="0"/>
          </a:p>
        </p:txBody>
      </p:sp>
      <p:sp>
        <p:nvSpPr>
          <p:cNvPr id="113" name="Shape 111"/>
          <p:cNvSpPr/>
          <p:nvPr/>
        </p:nvSpPr>
        <p:spPr>
          <a:xfrm>
            <a:off x="2935224" y="4599432"/>
            <a:ext cx="82296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4" name="Shape 112"/>
          <p:cNvSpPr/>
          <p:nvPr/>
        </p:nvSpPr>
        <p:spPr>
          <a:xfrm>
            <a:off x="2935224" y="4599432"/>
            <a:ext cx="36576" cy="31089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5" name="Text 113"/>
          <p:cNvSpPr/>
          <p:nvPr/>
        </p:nvSpPr>
        <p:spPr>
          <a:xfrm>
            <a:off x="2971800" y="4599432"/>
            <a:ext cx="7863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21.6</a:t>
            </a:r>
            <a:endParaRPr lang="en-US" sz="900" dirty="0"/>
          </a:p>
        </p:txBody>
      </p:sp>
      <p:sp>
        <p:nvSpPr>
          <p:cNvPr id="116" name="Shape 114"/>
          <p:cNvSpPr/>
          <p:nvPr/>
        </p:nvSpPr>
        <p:spPr>
          <a:xfrm>
            <a:off x="3776472" y="4599432"/>
            <a:ext cx="82296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7" name="Shape 115"/>
          <p:cNvSpPr/>
          <p:nvPr/>
        </p:nvSpPr>
        <p:spPr>
          <a:xfrm>
            <a:off x="3776472" y="4599432"/>
            <a:ext cx="36576" cy="31089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8" name="Text 116"/>
          <p:cNvSpPr/>
          <p:nvPr/>
        </p:nvSpPr>
        <p:spPr>
          <a:xfrm>
            <a:off x="3813048" y="4599432"/>
            <a:ext cx="7863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0.568</a:t>
            </a:r>
            <a:endParaRPr lang="en-US" sz="900" dirty="0"/>
          </a:p>
        </p:txBody>
      </p:sp>
      <p:sp>
        <p:nvSpPr>
          <p:cNvPr id="119" name="Shape 117"/>
          <p:cNvSpPr/>
          <p:nvPr/>
        </p:nvSpPr>
        <p:spPr>
          <a:xfrm>
            <a:off x="4617720" y="4599432"/>
            <a:ext cx="82296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0" name="Shape 118"/>
          <p:cNvSpPr/>
          <p:nvPr/>
        </p:nvSpPr>
        <p:spPr>
          <a:xfrm>
            <a:off x="4617720" y="4599432"/>
            <a:ext cx="36576" cy="31089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1" name="Text 119"/>
          <p:cNvSpPr/>
          <p:nvPr/>
        </p:nvSpPr>
        <p:spPr>
          <a:xfrm>
            <a:off x="4654296" y="4599432"/>
            <a:ext cx="7863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34.65</a:t>
            </a:r>
            <a:endParaRPr lang="en-US" sz="900" dirty="0"/>
          </a:p>
        </p:txBody>
      </p:sp>
      <p:sp>
        <p:nvSpPr>
          <p:cNvPr id="122" name="Shape 120"/>
          <p:cNvSpPr/>
          <p:nvPr/>
        </p:nvSpPr>
        <p:spPr>
          <a:xfrm>
            <a:off x="5458968" y="4599432"/>
            <a:ext cx="82296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3" name="Shape 121"/>
          <p:cNvSpPr/>
          <p:nvPr/>
        </p:nvSpPr>
        <p:spPr>
          <a:xfrm>
            <a:off x="5458968" y="4599432"/>
            <a:ext cx="36576" cy="31089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4" name="Text 122"/>
          <p:cNvSpPr/>
          <p:nvPr/>
        </p:nvSpPr>
        <p:spPr>
          <a:xfrm>
            <a:off x="5495544" y="4599432"/>
            <a:ext cx="7863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0.747</a:t>
            </a:r>
            <a:endParaRPr lang="en-US" sz="900" dirty="0"/>
          </a:p>
        </p:txBody>
      </p:sp>
      <p:sp>
        <p:nvSpPr>
          <p:cNvPr id="125" name="Shape 123"/>
          <p:cNvSpPr/>
          <p:nvPr/>
        </p:nvSpPr>
        <p:spPr>
          <a:xfrm>
            <a:off x="6300216" y="4599432"/>
            <a:ext cx="64008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6" name="Shape 124"/>
          <p:cNvSpPr/>
          <p:nvPr/>
        </p:nvSpPr>
        <p:spPr>
          <a:xfrm>
            <a:off x="6300216" y="4599432"/>
            <a:ext cx="36576" cy="31089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7" name="Text 125"/>
          <p:cNvSpPr/>
          <p:nvPr/>
        </p:nvSpPr>
        <p:spPr>
          <a:xfrm>
            <a:off x="6336792" y="4599432"/>
            <a:ext cx="60350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+3.3%</a:t>
            </a:r>
            <a:endParaRPr lang="en-US" sz="900" dirty="0"/>
          </a:p>
        </p:txBody>
      </p:sp>
      <p:sp>
        <p:nvSpPr>
          <p:cNvPr id="128" name="Shape 126"/>
          <p:cNvSpPr/>
          <p:nvPr/>
        </p:nvSpPr>
        <p:spPr>
          <a:xfrm>
            <a:off x="228600" y="4937760"/>
            <a:ext cx="1280160" cy="31089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129" name="Shape 127"/>
          <p:cNvSpPr/>
          <p:nvPr/>
        </p:nvSpPr>
        <p:spPr>
          <a:xfrm>
            <a:off x="228600" y="4937760"/>
            <a:ext cx="36576" cy="31089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30" name="Text 128"/>
          <p:cNvSpPr/>
          <p:nvPr/>
        </p:nvSpPr>
        <p:spPr>
          <a:xfrm>
            <a:off x="265176" y="4937760"/>
            <a:ext cx="12435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Attn</a:t>
            </a:r>
            <a:endParaRPr lang="en-US" sz="900" dirty="0"/>
          </a:p>
        </p:txBody>
      </p:sp>
      <p:sp>
        <p:nvSpPr>
          <p:cNvPr id="131" name="Shape 129"/>
          <p:cNvSpPr/>
          <p:nvPr/>
        </p:nvSpPr>
        <p:spPr>
          <a:xfrm>
            <a:off x="1527048" y="4937760"/>
            <a:ext cx="548640" cy="31089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132" name="Shape 130"/>
          <p:cNvSpPr/>
          <p:nvPr/>
        </p:nvSpPr>
        <p:spPr>
          <a:xfrm>
            <a:off x="1527048" y="4937760"/>
            <a:ext cx="36576" cy="31089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33" name="Text 131"/>
          <p:cNvSpPr/>
          <p:nvPr/>
        </p:nvSpPr>
        <p:spPr>
          <a:xfrm>
            <a:off x="1563624" y="4937760"/>
            <a:ext cx="5120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#14</a:t>
            </a:r>
            <a:endParaRPr lang="en-US" sz="900" dirty="0"/>
          </a:p>
        </p:txBody>
      </p:sp>
      <p:sp>
        <p:nvSpPr>
          <p:cNvPr id="134" name="Shape 132"/>
          <p:cNvSpPr/>
          <p:nvPr/>
        </p:nvSpPr>
        <p:spPr>
          <a:xfrm>
            <a:off x="2093976" y="4937760"/>
            <a:ext cx="822960" cy="31089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135" name="Shape 133"/>
          <p:cNvSpPr/>
          <p:nvPr/>
        </p:nvSpPr>
        <p:spPr>
          <a:xfrm>
            <a:off x="2093976" y="4937760"/>
            <a:ext cx="36576" cy="31089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36" name="Text 134"/>
          <p:cNvSpPr/>
          <p:nvPr/>
        </p:nvSpPr>
        <p:spPr>
          <a:xfrm>
            <a:off x="2130552" y="4937760"/>
            <a:ext cx="7863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0.583</a:t>
            </a:r>
            <a:endParaRPr lang="en-US" sz="900" dirty="0"/>
          </a:p>
        </p:txBody>
      </p:sp>
      <p:sp>
        <p:nvSpPr>
          <p:cNvPr id="137" name="Shape 135"/>
          <p:cNvSpPr/>
          <p:nvPr/>
        </p:nvSpPr>
        <p:spPr>
          <a:xfrm>
            <a:off x="2935224" y="4937760"/>
            <a:ext cx="822960" cy="31089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138" name="Shape 136"/>
          <p:cNvSpPr/>
          <p:nvPr/>
        </p:nvSpPr>
        <p:spPr>
          <a:xfrm>
            <a:off x="2935224" y="4937760"/>
            <a:ext cx="36576" cy="31089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39" name="Text 137"/>
          <p:cNvSpPr/>
          <p:nvPr/>
        </p:nvSpPr>
        <p:spPr>
          <a:xfrm>
            <a:off x="2971800" y="4937760"/>
            <a:ext cx="7863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30.6</a:t>
            </a:r>
            <a:endParaRPr lang="en-US" sz="900" dirty="0"/>
          </a:p>
        </p:txBody>
      </p:sp>
      <p:sp>
        <p:nvSpPr>
          <p:cNvPr id="140" name="Shape 138"/>
          <p:cNvSpPr/>
          <p:nvPr/>
        </p:nvSpPr>
        <p:spPr>
          <a:xfrm>
            <a:off x="3776472" y="4937760"/>
            <a:ext cx="822960" cy="31089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141" name="Shape 139"/>
          <p:cNvSpPr/>
          <p:nvPr/>
        </p:nvSpPr>
        <p:spPr>
          <a:xfrm>
            <a:off x="3776472" y="4937760"/>
            <a:ext cx="36576" cy="31089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42" name="Text 140"/>
          <p:cNvSpPr/>
          <p:nvPr/>
        </p:nvSpPr>
        <p:spPr>
          <a:xfrm>
            <a:off x="3813048" y="4937760"/>
            <a:ext cx="7863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0.590</a:t>
            </a:r>
            <a:endParaRPr lang="en-US" sz="900" dirty="0"/>
          </a:p>
        </p:txBody>
      </p:sp>
      <p:sp>
        <p:nvSpPr>
          <p:cNvPr id="143" name="Shape 141"/>
          <p:cNvSpPr/>
          <p:nvPr/>
        </p:nvSpPr>
        <p:spPr>
          <a:xfrm>
            <a:off x="4617720" y="4937760"/>
            <a:ext cx="822960" cy="31089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144" name="Shape 142"/>
          <p:cNvSpPr/>
          <p:nvPr/>
        </p:nvSpPr>
        <p:spPr>
          <a:xfrm>
            <a:off x="4617720" y="4937760"/>
            <a:ext cx="36576" cy="31089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45" name="Text 143"/>
          <p:cNvSpPr/>
          <p:nvPr/>
        </p:nvSpPr>
        <p:spPr>
          <a:xfrm>
            <a:off x="4654296" y="4937760"/>
            <a:ext cx="7863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43.27</a:t>
            </a:r>
            <a:endParaRPr lang="en-US" sz="900" dirty="0"/>
          </a:p>
        </p:txBody>
      </p:sp>
      <p:sp>
        <p:nvSpPr>
          <p:cNvPr id="146" name="Shape 144"/>
          <p:cNvSpPr/>
          <p:nvPr/>
        </p:nvSpPr>
        <p:spPr>
          <a:xfrm>
            <a:off x="5458968" y="4937760"/>
            <a:ext cx="822960" cy="31089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147" name="Shape 145"/>
          <p:cNvSpPr/>
          <p:nvPr/>
        </p:nvSpPr>
        <p:spPr>
          <a:xfrm>
            <a:off x="5458968" y="4937760"/>
            <a:ext cx="36576" cy="31089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48" name="Text 146"/>
          <p:cNvSpPr/>
          <p:nvPr/>
        </p:nvSpPr>
        <p:spPr>
          <a:xfrm>
            <a:off x="5495544" y="4937760"/>
            <a:ext cx="7863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0.782</a:t>
            </a:r>
            <a:endParaRPr lang="en-US" sz="900" dirty="0"/>
          </a:p>
        </p:txBody>
      </p:sp>
      <p:sp>
        <p:nvSpPr>
          <p:cNvPr id="149" name="Shape 147"/>
          <p:cNvSpPr/>
          <p:nvPr/>
        </p:nvSpPr>
        <p:spPr>
          <a:xfrm>
            <a:off x="6300216" y="4937760"/>
            <a:ext cx="640080" cy="31089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150" name="Shape 148"/>
          <p:cNvSpPr/>
          <p:nvPr/>
        </p:nvSpPr>
        <p:spPr>
          <a:xfrm>
            <a:off x="6300216" y="4937760"/>
            <a:ext cx="36576" cy="31089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51" name="Text 149"/>
          <p:cNvSpPr/>
          <p:nvPr/>
        </p:nvSpPr>
        <p:spPr>
          <a:xfrm>
            <a:off x="6336792" y="4937760"/>
            <a:ext cx="60350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-1.4%</a:t>
            </a:r>
            <a:endParaRPr lang="en-US" sz="900" dirty="0"/>
          </a:p>
        </p:txBody>
      </p:sp>
      <p:sp>
        <p:nvSpPr>
          <p:cNvPr id="152" name="Shape 150"/>
          <p:cNvSpPr/>
          <p:nvPr/>
        </p:nvSpPr>
        <p:spPr>
          <a:xfrm>
            <a:off x="228600" y="5276088"/>
            <a:ext cx="128016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3" name="Shape 151"/>
          <p:cNvSpPr/>
          <p:nvPr/>
        </p:nvSpPr>
        <p:spPr>
          <a:xfrm>
            <a:off x="228600" y="5276088"/>
            <a:ext cx="36576" cy="31089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54" name="Text 152"/>
          <p:cNvSpPr/>
          <p:nvPr/>
        </p:nvSpPr>
        <p:spPr>
          <a:xfrm>
            <a:off x="265176" y="5276088"/>
            <a:ext cx="12435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Trans</a:t>
            </a:r>
            <a:endParaRPr lang="en-US" sz="900" dirty="0"/>
          </a:p>
        </p:txBody>
      </p:sp>
      <p:sp>
        <p:nvSpPr>
          <p:cNvPr id="155" name="Shape 153"/>
          <p:cNvSpPr/>
          <p:nvPr/>
        </p:nvSpPr>
        <p:spPr>
          <a:xfrm>
            <a:off x="1527048" y="5276088"/>
            <a:ext cx="54864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6" name="Shape 154"/>
          <p:cNvSpPr/>
          <p:nvPr/>
        </p:nvSpPr>
        <p:spPr>
          <a:xfrm>
            <a:off x="1527048" y="5276088"/>
            <a:ext cx="36576" cy="31089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57" name="Text 155"/>
          <p:cNvSpPr/>
          <p:nvPr/>
        </p:nvSpPr>
        <p:spPr>
          <a:xfrm>
            <a:off x="1563624" y="5276088"/>
            <a:ext cx="5120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#5</a:t>
            </a:r>
            <a:endParaRPr lang="en-US" sz="900" dirty="0"/>
          </a:p>
        </p:txBody>
      </p:sp>
      <p:sp>
        <p:nvSpPr>
          <p:cNvPr id="158" name="Shape 156"/>
          <p:cNvSpPr/>
          <p:nvPr/>
        </p:nvSpPr>
        <p:spPr>
          <a:xfrm>
            <a:off x="2093976" y="5276088"/>
            <a:ext cx="82296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9" name="Shape 157"/>
          <p:cNvSpPr/>
          <p:nvPr/>
        </p:nvSpPr>
        <p:spPr>
          <a:xfrm>
            <a:off x="2093976" y="5276088"/>
            <a:ext cx="36576" cy="31089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60" name="Text 158"/>
          <p:cNvSpPr/>
          <p:nvPr/>
        </p:nvSpPr>
        <p:spPr>
          <a:xfrm>
            <a:off x="2130552" y="5276088"/>
            <a:ext cx="7863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0.533</a:t>
            </a:r>
            <a:endParaRPr lang="en-US" sz="900" dirty="0"/>
          </a:p>
        </p:txBody>
      </p:sp>
      <p:sp>
        <p:nvSpPr>
          <p:cNvPr id="161" name="Shape 159"/>
          <p:cNvSpPr/>
          <p:nvPr/>
        </p:nvSpPr>
        <p:spPr>
          <a:xfrm>
            <a:off x="2935224" y="5276088"/>
            <a:ext cx="82296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2" name="Shape 160"/>
          <p:cNvSpPr/>
          <p:nvPr/>
        </p:nvSpPr>
        <p:spPr>
          <a:xfrm>
            <a:off x="2935224" y="5276088"/>
            <a:ext cx="36576" cy="31089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63" name="Text 161"/>
          <p:cNvSpPr/>
          <p:nvPr/>
        </p:nvSpPr>
        <p:spPr>
          <a:xfrm>
            <a:off x="2971800" y="5276088"/>
            <a:ext cx="7863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30.6</a:t>
            </a:r>
            <a:endParaRPr lang="en-US" sz="900" dirty="0"/>
          </a:p>
        </p:txBody>
      </p:sp>
      <p:sp>
        <p:nvSpPr>
          <p:cNvPr id="164" name="Shape 162"/>
          <p:cNvSpPr/>
          <p:nvPr/>
        </p:nvSpPr>
        <p:spPr>
          <a:xfrm>
            <a:off x="3776472" y="5276088"/>
            <a:ext cx="82296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5" name="Shape 163"/>
          <p:cNvSpPr/>
          <p:nvPr/>
        </p:nvSpPr>
        <p:spPr>
          <a:xfrm>
            <a:off x="3776472" y="5276088"/>
            <a:ext cx="36576" cy="31089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66" name="Text 164"/>
          <p:cNvSpPr/>
          <p:nvPr/>
        </p:nvSpPr>
        <p:spPr>
          <a:xfrm>
            <a:off x="3813048" y="5276088"/>
            <a:ext cx="7863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0.594</a:t>
            </a:r>
            <a:endParaRPr lang="en-US" sz="900" dirty="0"/>
          </a:p>
        </p:txBody>
      </p:sp>
      <p:sp>
        <p:nvSpPr>
          <p:cNvPr id="167" name="Shape 165"/>
          <p:cNvSpPr/>
          <p:nvPr/>
        </p:nvSpPr>
        <p:spPr>
          <a:xfrm>
            <a:off x="4617720" y="5276088"/>
            <a:ext cx="82296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8" name="Shape 166"/>
          <p:cNvSpPr/>
          <p:nvPr/>
        </p:nvSpPr>
        <p:spPr>
          <a:xfrm>
            <a:off x="4617720" y="5276088"/>
            <a:ext cx="36576" cy="31089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69" name="Text 167"/>
          <p:cNvSpPr/>
          <p:nvPr/>
        </p:nvSpPr>
        <p:spPr>
          <a:xfrm>
            <a:off x="4654296" y="5276088"/>
            <a:ext cx="7863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48.44</a:t>
            </a:r>
            <a:endParaRPr lang="en-US" sz="900" dirty="0"/>
          </a:p>
        </p:txBody>
      </p:sp>
      <p:sp>
        <p:nvSpPr>
          <p:cNvPr id="170" name="Shape 168"/>
          <p:cNvSpPr/>
          <p:nvPr/>
        </p:nvSpPr>
        <p:spPr>
          <a:xfrm>
            <a:off x="5458968" y="5276088"/>
            <a:ext cx="82296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1" name="Shape 169"/>
          <p:cNvSpPr/>
          <p:nvPr/>
        </p:nvSpPr>
        <p:spPr>
          <a:xfrm>
            <a:off x="5458968" y="5276088"/>
            <a:ext cx="36576" cy="31089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72" name="Text 170"/>
          <p:cNvSpPr/>
          <p:nvPr/>
        </p:nvSpPr>
        <p:spPr>
          <a:xfrm>
            <a:off x="5495544" y="5276088"/>
            <a:ext cx="7863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0.788</a:t>
            </a:r>
            <a:endParaRPr lang="en-US" sz="900" dirty="0"/>
          </a:p>
        </p:txBody>
      </p:sp>
      <p:sp>
        <p:nvSpPr>
          <p:cNvPr id="173" name="Shape 171"/>
          <p:cNvSpPr/>
          <p:nvPr/>
        </p:nvSpPr>
        <p:spPr>
          <a:xfrm>
            <a:off x="6300216" y="5276088"/>
            <a:ext cx="64008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4" name="Shape 172"/>
          <p:cNvSpPr/>
          <p:nvPr/>
        </p:nvSpPr>
        <p:spPr>
          <a:xfrm>
            <a:off x="6300216" y="5276088"/>
            <a:ext cx="36576" cy="31089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75" name="Text 173"/>
          <p:cNvSpPr/>
          <p:nvPr/>
        </p:nvSpPr>
        <p:spPr>
          <a:xfrm>
            <a:off x="6336792" y="5276088"/>
            <a:ext cx="60350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+0.1%</a:t>
            </a:r>
            <a:endParaRPr lang="en-US" sz="900" dirty="0"/>
          </a:p>
        </p:txBody>
      </p:sp>
      <p:sp>
        <p:nvSpPr>
          <p:cNvPr id="176" name="Text 174"/>
          <p:cNvSpPr/>
          <p:nvPr/>
        </p:nvSpPr>
        <p:spPr>
          <a:xfrm>
            <a:off x="228600" y="5330952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seq_len=48 systématiquement préféré sur les 3 modèles  ·  CNN : meilleure progression Sharpe (+15%)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21A40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68580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Ensemble pondéré final — Vote par F1-macro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20116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5/8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8869680" y="4892040"/>
            <a:ext cx="274320" cy="2286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8869680" y="489204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28600" y="868680"/>
            <a:ext cx="8686800" cy="502920"/>
          </a:xfrm>
          <a:prstGeom prst="roundRect">
            <a:avLst>
              <a:gd name="adj" fmla="val 14545"/>
            </a:avLst>
          </a:prstGeom>
          <a:solidFill>
            <a:srgbClr val="0F172A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886968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avg_probs = Σ (WEIGHTS[name] × probs[name])   où   WEIGHTS[name] = F1[name] / Σ F1    →    signal = argmax(avg_probs)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28600" y="148132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Poids calculés automatiquement depuis artifacts/{model}_metrics.json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28600" y="1783080"/>
            <a:ext cx="868680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228600" y="1783080"/>
            <a:ext cx="54864" cy="43891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2" name="Text 10"/>
          <p:cNvSpPr/>
          <p:nvPr/>
        </p:nvSpPr>
        <p:spPr>
          <a:xfrm>
            <a:off x="384048" y="185623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Attention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331720" y="187452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F1 = 0.6035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520440" y="1874520"/>
            <a:ext cx="3590163" cy="25603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5" name="Text 13"/>
          <p:cNvSpPr/>
          <p:nvPr/>
        </p:nvSpPr>
        <p:spPr>
          <a:xfrm>
            <a:off x="7202043" y="187452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= 0.349  (34.9%)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8600" y="2286000"/>
            <a:ext cx="8686800" cy="438912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17" name="Shape 15"/>
          <p:cNvSpPr/>
          <p:nvPr/>
        </p:nvSpPr>
        <p:spPr>
          <a:xfrm>
            <a:off x="228600" y="2286000"/>
            <a:ext cx="54864" cy="43891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8" name="Text 16"/>
          <p:cNvSpPr/>
          <p:nvPr/>
        </p:nvSpPr>
        <p:spPr>
          <a:xfrm>
            <a:off x="384048" y="23591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Transformer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331720" y="237744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F1 = 0.5931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520440" y="2377440"/>
            <a:ext cx="3528441" cy="2560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1" name="Text 19"/>
          <p:cNvSpPr/>
          <p:nvPr/>
        </p:nvSpPr>
        <p:spPr>
          <a:xfrm>
            <a:off x="7140321" y="237744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= 0.343  (34.3%)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28600" y="2788920"/>
            <a:ext cx="868680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228600" y="2788920"/>
            <a:ext cx="54864" cy="43891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4" name="Text 22"/>
          <p:cNvSpPr/>
          <p:nvPr/>
        </p:nvSpPr>
        <p:spPr>
          <a:xfrm>
            <a:off x="384048" y="286207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PatchTST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331720" y="288036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F1 = 0.5347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520440" y="2880360"/>
            <a:ext cx="3178683" cy="2560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7" name="Text 25"/>
          <p:cNvSpPr/>
          <p:nvPr/>
        </p:nvSpPr>
        <p:spPr>
          <a:xfrm>
            <a:off x="6790563" y="288036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= 0.309  (30.9%)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28600" y="3291840"/>
            <a:ext cx="8686800" cy="438912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29" name="Shape 27"/>
          <p:cNvSpPr/>
          <p:nvPr/>
        </p:nvSpPr>
        <p:spPr>
          <a:xfrm>
            <a:off x="228600" y="3291840"/>
            <a:ext cx="54864" cy="43891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0" name="Text 28"/>
          <p:cNvSpPr/>
          <p:nvPr/>
        </p:nvSpPr>
        <p:spPr>
          <a:xfrm>
            <a:off x="384048" y="336499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TFT Lite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331720" y="338328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F1 = 0.4012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520440" y="3364992"/>
            <a:ext cx="1371600" cy="274320"/>
          </a:xfrm>
          <a:prstGeom prst="roundRect">
            <a:avLst>
              <a:gd name="adj" fmla="val 20000"/>
            </a:avLst>
          </a:prstGeom>
          <a:solidFill>
            <a:srgbClr val="FEE2E2"/>
          </a:solidFill>
          <a:ln/>
        </p:spPr>
      </p:sp>
      <p:sp>
        <p:nvSpPr>
          <p:cNvPr id="33" name="Text 31"/>
          <p:cNvSpPr/>
          <p:nvPr/>
        </p:nvSpPr>
        <p:spPr>
          <a:xfrm>
            <a:off x="3520440" y="336499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 — F1=0.40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28600" y="3858768"/>
            <a:ext cx="8686800" cy="5029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5" name="Text 33"/>
          <p:cNvSpPr/>
          <p:nvPr/>
        </p:nvSpPr>
        <p:spPr>
          <a:xfrm>
            <a:off x="320040" y="3858768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pondéré vs meilleur individuel (LSTM)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274320" y="4453128"/>
            <a:ext cx="265176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274320" y="4489704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74320" y="472744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1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61.24% → 65.17%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274320" y="5020056"/>
            <a:ext cx="2651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+3.93pp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108960" y="4453128"/>
            <a:ext cx="265176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3108960" y="4489704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F1-macro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3108960" y="472744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1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60.35% → 63.04%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3108960" y="5020056"/>
            <a:ext cx="2651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+2.69pp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5943600" y="4453128"/>
            <a:ext cx="265176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5943600" y="4489704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AUC-OVR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943600" y="472744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1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78% → 81.92%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5943600" y="5020056"/>
            <a:ext cx="2651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+3.92pp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21A40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68580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Classification détaillée : ensemble vs modèles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20116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5/8 · suite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8869680" y="4892040"/>
            <a:ext cx="274320" cy="2286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8869680" y="489204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28600" y="86868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 de classification — Ensemble pondéré (test set, 2 495 samples)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28600" y="1188720"/>
            <a:ext cx="1280160" cy="320040"/>
          </a:xfrm>
          <a:prstGeom prst="rect">
            <a:avLst/>
          </a:prstGeom>
          <a:solidFill>
            <a:srgbClr val="121A40"/>
          </a:solidFill>
          <a:ln/>
        </p:spPr>
      </p:sp>
      <p:sp>
        <p:nvSpPr>
          <p:cNvPr id="9" name="Text 7"/>
          <p:cNvSpPr/>
          <p:nvPr/>
        </p:nvSpPr>
        <p:spPr>
          <a:xfrm>
            <a:off x="228600" y="11887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527048" y="1188720"/>
            <a:ext cx="1005840" cy="320040"/>
          </a:xfrm>
          <a:prstGeom prst="rect">
            <a:avLst/>
          </a:prstGeom>
          <a:solidFill>
            <a:srgbClr val="121A40"/>
          </a:solidFill>
          <a:ln/>
        </p:spPr>
      </p:sp>
      <p:sp>
        <p:nvSpPr>
          <p:cNvPr id="11" name="Text 9"/>
          <p:cNvSpPr/>
          <p:nvPr/>
        </p:nvSpPr>
        <p:spPr>
          <a:xfrm>
            <a:off x="1527048" y="118872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551176" y="1188720"/>
            <a:ext cx="914400" cy="320040"/>
          </a:xfrm>
          <a:prstGeom prst="rect">
            <a:avLst/>
          </a:prstGeom>
          <a:solidFill>
            <a:srgbClr val="121A40"/>
          </a:solidFill>
          <a:ln/>
        </p:spPr>
      </p:sp>
      <p:sp>
        <p:nvSpPr>
          <p:cNvPr id="13" name="Text 11"/>
          <p:cNvSpPr/>
          <p:nvPr/>
        </p:nvSpPr>
        <p:spPr>
          <a:xfrm>
            <a:off x="2551176" y="11887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483864" y="1188720"/>
            <a:ext cx="1005840" cy="320040"/>
          </a:xfrm>
          <a:prstGeom prst="rect">
            <a:avLst/>
          </a:prstGeom>
          <a:solidFill>
            <a:srgbClr val="121A40"/>
          </a:solidFill>
          <a:ln/>
        </p:spPr>
      </p:sp>
      <p:sp>
        <p:nvSpPr>
          <p:cNvPr id="15" name="Text 13"/>
          <p:cNvSpPr/>
          <p:nvPr/>
        </p:nvSpPr>
        <p:spPr>
          <a:xfrm>
            <a:off x="3483864" y="118872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07992" y="1188720"/>
            <a:ext cx="822960" cy="320040"/>
          </a:xfrm>
          <a:prstGeom prst="rect">
            <a:avLst/>
          </a:prstGeom>
          <a:solidFill>
            <a:srgbClr val="121A40"/>
          </a:solidFill>
          <a:ln/>
        </p:spPr>
      </p:sp>
      <p:sp>
        <p:nvSpPr>
          <p:cNvPr id="17" name="Text 15"/>
          <p:cNvSpPr/>
          <p:nvPr/>
        </p:nvSpPr>
        <p:spPr>
          <a:xfrm>
            <a:off x="4507992" y="118872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349240" y="1188720"/>
            <a:ext cx="3657600" cy="320040"/>
          </a:xfrm>
          <a:prstGeom prst="rect">
            <a:avLst/>
          </a:prstGeom>
          <a:solidFill>
            <a:srgbClr val="121A40"/>
          </a:solidFill>
          <a:ln/>
        </p:spPr>
      </p:sp>
      <p:sp>
        <p:nvSpPr>
          <p:cNvPr id="19" name="Text 17"/>
          <p:cNvSpPr/>
          <p:nvPr/>
        </p:nvSpPr>
        <p:spPr>
          <a:xfrm>
            <a:off x="5349240" y="1188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28600" y="1536192"/>
            <a:ext cx="1280160" cy="338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228600" y="1536192"/>
            <a:ext cx="36576" cy="33832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2" name="Text 20"/>
          <p:cNvSpPr/>
          <p:nvPr/>
        </p:nvSpPr>
        <p:spPr>
          <a:xfrm>
            <a:off x="274320" y="1572768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 (0)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527048" y="1536192"/>
            <a:ext cx="1005840" cy="338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Shape 22"/>
          <p:cNvSpPr/>
          <p:nvPr/>
        </p:nvSpPr>
        <p:spPr>
          <a:xfrm>
            <a:off x="1527048" y="1536192"/>
            <a:ext cx="36576" cy="33832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5" name="Text 23"/>
          <p:cNvSpPr/>
          <p:nvPr/>
        </p:nvSpPr>
        <p:spPr>
          <a:xfrm>
            <a:off x="1572768" y="1572768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0.68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551176" y="1536192"/>
            <a:ext cx="914400" cy="338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Shape 25"/>
          <p:cNvSpPr/>
          <p:nvPr/>
        </p:nvSpPr>
        <p:spPr>
          <a:xfrm>
            <a:off x="2551176" y="1536192"/>
            <a:ext cx="36576" cy="33832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8" name="Text 26"/>
          <p:cNvSpPr/>
          <p:nvPr/>
        </p:nvSpPr>
        <p:spPr>
          <a:xfrm>
            <a:off x="2596896" y="1572768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0.77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483864" y="1536192"/>
            <a:ext cx="1005840" cy="338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Shape 28"/>
          <p:cNvSpPr/>
          <p:nvPr/>
        </p:nvSpPr>
        <p:spPr>
          <a:xfrm>
            <a:off x="3483864" y="1536192"/>
            <a:ext cx="36576" cy="33832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1" name="Text 29"/>
          <p:cNvSpPr/>
          <p:nvPr/>
        </p:nvSpPr>
        <p:spPr>
          <a:xfrm>
            <a:off x="3529584" y="1572768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0.72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07992" y="1536192"/>
            <a:ext cx="822960" cy="338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Shape 31"/>
          <p:cNvSpPr/>
          <p:nvPr/>
        </p:nvSpPr>
        <p:spPr>
          <a:xfrm>
            <a:off x="4507992" y="1536192"/>
            <a:ext cx="36576" cy="33832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4" name="Text 32"/>
          <p:cNvSpPr/>
          <p:nvPr/>
        </p:nvSpPr>
        <p:spPr>
          <a:xfrm>
            <a:off x="4553712" y="1572768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946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349240" y="1536192"/>
            <a:ext cx="3657600" cy="338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Text 34"/>
          <p:cNvSpPr/>
          <p:nvPr/>
        </p:nvSpPr>
        <p:spPr>
          <a:xfrm>
            <a:off x="5422392" y="1572768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correct — signal de vente bien capté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28600" y="1901952"/>
            <a:ext cx="1280160" cy="338328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38" name="Shape 36"/>
          <p:cNvSpPr/>
          <p:nvPr/>
        </p:nvSpPr>
        <p:spPr>
          <a:xfrm>
            <a:off x="228600" y="1901952"/>
            <a:ext cx="36576" cy="3383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9" name="Text 37"/>
          <p:cNvSpPr/>
          <p:nvPr/>
        </p:nvSpPr>
        <p:spPr>
          <a:xfrm>
            <a:off x="274320" y="1938528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(1)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1527048" y="1901952"/>
            <a:ext cx="1005840" cy="338328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41" name="Shape 39"/>
          <p:cNvSpPr/>
          <p:nvPr/>
        </p:nvSpPr>
        <p:spPr>
          <a:xfrm>
            <a:off x="1527048" y="1901952"/>
            <a:ext cx="36576" cy="3383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2" name="Text 40"/>
          <p:cNvSpPr/>
          <p:nvPr/>
        </p:nvSpPr>
        <p:spPr>
          <a:xfrm>
            <a:off x="1572768" y="1938528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0.60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551176" y="1901952"/>
            <a:ext cx="914400" cy="338328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44" name="Shape 42"/>
          <p:cNvSpPr/>
          <p:nvPr/>
        </p:nvSpPr>
        <p:spPr>
          <a:xfrm>
            <a:off x="2551176" y="1901952"/>
            <a:ext cx="36576" cy="3383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5" name="Text 43"/>
          <p:cNvSpPr/>
          <p:nvPr/>
        </p:nvSpPr>
        <p:spPr>
          <a:xfrm>
            <a:off x="2596896" y="1938528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0.40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483864" y="1901952"/>
            <a:ext cx="1005840" cy="338328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47" name="Shape 45"/>
          <p:cNvSpPr/>
          <p:nvPr/>
        </p:nvSpPr>
        <p:spPr>
          <a:xfrm>
            <a:off x="3483864" y="1901952"/>
            <a:ext cx="36576" cy="3383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8" name="Text 46"/>
          <p:cNvSpPr/>
          <p:nvPr/>
        </p:nvSpPr>
        <p:spPr>
          <a:xfrm>
            <a:off x="3529584" y="1938528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0.48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507992" y="1901952"/>
            <a:ext cx="822960" cy="338328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50" name="Shape 48"/>
          <p:cNvSpPr/>
          <p:nvPr/>
        </p:nvSpPr>
        <p:spPr>
          <a:xfrm>
            <a:off x="4507992" y="1901952"/>
            <a:ext cx="36576" cy="3383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1" name="Text 49"/>
          <p:cNvSpPr/>
          <p:nvPr/>
        </p:nvSpPr>
        <p:spPr>
          <a:xfrm>
            <a:off x="4553712" y="1938528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735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5349240" y="1901952"/>
            <a:ext cx="3657600" cy="338328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53" name="Text 51"/>
          <p:cNvSpPr/>
          <p:nvPr/>
        </p:nvSpPr>
        <p:spPr>
          <a:xfrm>
            <a:off x="5422392" y="1938528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Sous-prédit — classe la plus difficile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228600" y="2267712"/>
            <a:ext cx="1280160" cy="338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5" name="Shape 53"/>
          <p:cNvSpPr/>
          <p:nvPr/>
        </p:nvSpPr>
        <p:spPr>
          <a:xfrm>
            <a:off x="228600" y="2267712"/>
            <a:ext cx="36576" cy="33832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56" name="Text 54"/>
          <p:cNvSpPr/>
          <p:nvPr/>
        </p:nvSpPr>
        <p:spPr>
          <a:xfrm>
            <a:off x="274320" y="2304288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 (2)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1527048" y="2267712"/>
            <a:ext cx="1005840" cy="338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8" name="Shape 56"/>
          <p:cNvSpPr/>
          <p:nvPr/>
        </p:nvSpPr>
        <p:spPr>
          <a:xfrm>
            <a:off x="1527048" y="2267712"/>
            <a:ext cx="36576" cy="33832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59" name="Text 57"/>
          <p:cNvSpPr/>
          <p:nvPr/>
        </p:nvSpPr>
        <p:spPr>
          <a:xfrm>
            <a:off x="1572768" y="2304288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0.65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2551176" y="2267712"/>
            <a:ext cx="914400" cy="338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1" name="Shape 59"/>
          <p:cNvSpPr/>
          <p:nvPr/>
        </p:nvSpPr>
        <p:spPr>
          <a:xfrm>
            <a:off x="2551176" y="2267712"/>
            <a:ext cx="36576" cy="33832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62" name="Text 60"/>
          <p:cNvSpPr/>
          <p:nvPr/>
        </p:nvSpPr>
        <p:spPr>
          <a:xfrm>
            <a:off x="2596896" y="2304288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0.74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3483864" y="2267712"/>
            <a:ext cx="1005840" cy="338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4" name="Shape 62"/>
          <p:cNvSpPr/>
          <p:nvPr/>
        </p:nvSpPr>
        <p:spPr>
          <a:xfrm>
            <a:off x="3483864" y="2267712"/>
            <a:ext cx="36576" cy="33832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65" name="Text 63"/>
          <p:cNvSpPr/>
          <p:nvPr/>
        </p:nvSpPr>
        <p:spPr>
          <a:xfrm>
            <a:off x="3529584" y="2304288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0.69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4507992" y="2267712"/>
            <a:ext cx="822960" cy="338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7" name="Shape 65"/>
          <p:cNvSpPr/>
          <p:nvPr/>
        </p:nvSpPr>
        <p:spPr>
          <a:xfrm>
            <a:off x="4507992" y="2267712"/>
            <a:ext cx="36576" cy="33832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68" name="Text 66"/>
          <p:cNvSpPr/>
          <p:nvPr/>
        </p:nvSpPr>
        <p:spPr>
          <a:xfrm>
            <a:off x="4553712" y="2304288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814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5349240" y="2267712"/>
            <a:ext cx="3657600" cy="338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0" name="Text 68"/>
          <p:cNvSpPr/>
          <p:nvPr/>
        </p:nvSpPr>
        <p:spPr>
          <a:xfrm>
            <a:off x="5422392" y="2304288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bon — signal d'achat fiable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228600" y="2633472"/>
            <a:ext cx="1280160" cy="338328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72" name="Shape 70"/>
          <p:cNvSpPr/>
          <p:nvPr/>
        </p:nvSpPr>
        <p:spPr>
          <a:xfrm>
            <a:off x="228600" y="2633472"/>
            <a:ext cx="36576" cy="3383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3" name="Text 71"/>
          <p:cNvSpPr/>
          <p:nvPr/>
        </p:nvSpPr>
        <p:spPr>
          <a:xfrm>
            <a:off x="274320" y="2670048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avg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1527048" y="2633472"/>
            <a:ext cx="1005840" cy="338328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75" name="Shape 73"/>
          <p:cNvSpPr/>
          <p:nvPr/>
        </p:nvSpPr>
        <p:spPr>
          <a:xfrm>
            <a:off x="1527048" y="2633472"/>
            <a:ext cx="36576" cy="3383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6" name="Text 74"/>
          <p:cNvSpPr/>
          <p:nvPr/>
        </p:nvSpPr>
        <p:spPr>
          <a:xfrm>
            <a:off x="1572768" y="2670048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0.64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2551176" y="2633472"/>
            <a:ext cx="914400" cy="338328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78" name="Shape 76"/>
          <p:cNvSpPr/>
          <p:nvPr/>
        </p:nvSpPr>
        <p:spPr>
          <a:xfrm>
            <a:off x="2551176" y="2633472"/>
            <a:ext cx="36576" cy="3383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9" name="Text 77"/>
          <p:cNvSpPr/>
          <p:nvPr/>
        </p:nvSpPr>
        <p:spPr>
          <a:xfrm>
            <a:off x="2596896" y="2670048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0.64</a:t>
            </a:r>
            <a:endParaRPr lang="en-US" sz="1000" dirty="0"/>
          </a:p>
        </p:txBody>
      </p:sp>
      <p:sp>
        <p:nvSpPr>
          <p:cNvPr id="80" name="Shape 78"/>
          <p:cNvSpPr/>
          <p:nvPr/>
        </p:nvSpPr>
        <p:spPr>
          <a:xfrm>
            <a:off x="3483864" y="2633472"/>
            <a:ext cx="1005840" cy="338328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81" name="Shape 79"/>
          <p:cNvSpPr/>
          <p:nvPr/>
        </p:nvSpPr>
        <p:spPr>
          <a:xfrm>
            <a:off x="3483864" y="2633472"/>
            <a:ext cx="36576" cy="3383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2" name="Text 80"/>
          <p:cNvSpPr/>
          <p:nvPr/>
        </p:nvSpPr>
        <p:spPr>
          <a:xfrm>
            <a:off x="3529584" y="2670048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0.63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4507992" y="2633472"/>
            <a:ext cx="822960" cy="338328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84" name="Shape 82"/>
          <p:cNvSpPr/>
          <p:nvPr/>
        </p:nvSpPr>
        <p:spPr>
          <a:xfrm>
            <a:off x="4507992" y="2633472"/>
            <a:ext cx="36576" cy="3383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5" name="Text 83"/>
          <p:cNvSpPr/>
          <p:nvPr/>
        </p:nvSpPr>
        <p:spPr>
          <a:xfrm>
            <a:off x="4553712" y="2670048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2495</a:t>
            </a:r>
            <a:endParaRPr lang="en-US" sz="1000" dirty="0"/>
          </a:p>
        </p:txBody>
      </p:sp>
      <p:sp>
        <p:nvSpPr>
          <p:cNvPr id="86" name="Shape 84"/>
          <p:cNvSpPr/>
          <p:nvPr/>
        </p:nvSpPr>
        <p:spPr>
          <a:xfrm>
            <a:off x="5349240" y="2633472"/>
            <a:ext cx="3657600" cy="338328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87" name="Text 85"/>
          <p:cNvSpPr/>
          <p:nvPr/>
        </p:nvSpPr>
        <p:spPr>
          <a:xfrm>
            <a:off x="5422392" y="2670048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global</a:t>
            </a:r>
            <a:endParaRPr lang="en-US" sz="900" dirty="0"/>
          </a:p>
        </p:txBody>
      </p:sp>
      <p:sp>
        <p:nvSpPr>
          <p:cNvPr id="88" name="Text 86"/>
          <p:cNvSpPr/>
          <p:nvPr/>
        </p:nvSpPr>
        <p:spPr>
          <a:xfrm>
            <a:off x="228600" y="32004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par classe — tous les modèles</a:t>
            </a:r>
            <a:endParaRPr lang="en-US" sz="1000" dirty="0"/>
          </a:p>
        </p:txBody>
      </p:sp>
      <p:graphicFrame>
        <p:nvGraphicFramePr>
          <p:cNvPr id="89" name="Chart 0" descr=""/>
          <p:cNvGraphicFramePr/>
          <p:nvPr/>
        </p:nvGraphicFramePr>
        <p:xfrm>
          <a:off x="228600" y="3493008"/>
          <a:ext cx="5303520" cy="1737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0" name="Shape 87"/>
          <p:cNvSpPr/>
          <p:nvPr/>
        </p:nvSpPr>
        <p:spPr>
          <a:xfrm>
            <a:off x="5760720" y="3200400"/>
            <a:ext cx="3154680" cy="2029968"/>
          </a:xfrm>
          <a:prstGeom prst="roundRect">
            <a:avLst>
              <a:gd name="adj" fmla="val 4505"/>
            </a:avLst>
          </a:prstGeom>
          <a:solidFill>
            <a:srgbClr val="FFFBE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1" name="Shape 88"/>
          <p:cNvSpPr/>
          <p:nvPr/>
        </p:nvSpPr>
        <p:spPr>
          <a:xfrm>
            <a:off x="5760720" y="3200400"/>
            <a:ext cx="54864" cy="202996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2" name="Text 89"/>
          <p:cNvSpPr/>
          <p:nvPr/>
        </p:nvSpPr>
        <p:spPr>
          <a:xfrm>
            <a:off x="5897880" y="3273552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Biais Hold systématique</a:t>
            </a:r>
            <a:endParaRPr lang="en-US" sz="1100" dirty="0"/>
          </a:p>
        </p:txBody>
      </p:sp>
      <p:sp>
        <p:nvSpPr>
          <p:cNvPr id="93" name="Text 90"/>
          <p:cNvSpPr/>
          <p:nvPr/>
        </p:nvSpPr>
        <p:spPr>
          <a:xfrm>
            <a:off x="5897880" y="365760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F1 de Hold (1) reste en dessous de 0.50 sur tous les modèles. Cette classe "neutre" a une structure moins distinctive dans les données horaires crypto.</a:t>
            </a:r>
            <a:endParaRPr lang="en-US" sz="1000" dirty="0"/>
          </a:p>
        </p:txBody>
      </p:sp>
      <p:sp>
        <p:nvSpPr>
          <p:cNvPr id="94" name="Text 91"/>
          <p:cNvSpPr/>
          <p:nvPr/>
        </p:nvSpPr>
        <p:spPr>
          <a:xfrm>
            <a:off x="5897880" y="452628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i="1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Piste : augmenter le poids Hold dans la CrossEntropyLoss ou appliquer un seuil de confiance minimal (&gt;55%) pour filtrer les HOLD faibles.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21A40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68580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Backtest financier — Méthodologie et résultats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20116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6/8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8869680" y="4892040"/>
            <a:ext cx="274320" cy="2286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8869680" y="489204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28600" y="868680"/>
            <a:ext cx="8686800" cy="685800"/>
          </a:xfrm>
          <a:prstGeom prst="roundRect">
            <a:avLst>
              <a:gd name="adj" fmla="val 10667"/>
            </a:avLst>
          </a:prstGeom>
          <a:solidFill>
            <a:srgbClr val="0F172A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89611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corrigé — Agrégation multi-actifs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152144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F9F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❌ AVANT (faux compounding ×4)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65760" y="132588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equity = (1 + out["strategy_ret"]).cumprod()   # enchaîne BTC+ETH+BNB+SOL séquentiellement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572000" y="89611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✅ APRÈS (portefeuille égal-pondéré)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572000" y="1152144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portfolio = out.groupby("timestamp")["strategy_ret"].mean()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572000" y="1335024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equity = (1.0 + portfolio).cumprod()   # correct : 1 point par heure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28600" y="16459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Paramètres du backtest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8600" y="1965960"/>
            <a:ext cx="1965960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283464" y="2002536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21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Frais transaction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234440" y="2002536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bps (0.05%)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28600" y="2304288"/>
            <a:ext cx="1965960" cy="292608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19" name="Text 17"/>
          <p:cNvSpPr/>
          <p:nvPr/>
        </p:nvSpPr>
        <p:spPr>
          <a:xfrm>
            <a:off x="283464" y="2340864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21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Slippage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234440" y="2340864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bps (0.02%)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28600" y="2642616"/>
            <a:ext cx="1965960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283464" y="2679192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21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Seuil décision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234440" y="2679192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 ≥ 0.45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286000" y="1965960"/>
            <a:ext cx="1965960" cy="292608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25" name="Text 23"/>
          <p:cNvSpPr/>
          <p:nvPr/>
        </p:nvSpPr>
        <p:spPr>
          <a:xfrm>
            <a:off x="2340864" y="2002536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21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291840" y="2002536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Long + Short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286000" y="2304288"/>
            <a:ext cx="1965960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2340864" y="2340864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21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signal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291840" y="2340864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période (no look-ahead)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286000" y="2642616"/>
            <a:ext cx="1965960" cy="292608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31" name="Text 29"/>
          <p:cNvSpPr/>
          <p:nvPr/>
        </p:nvSpPr>
        <p:spPr>
          <a:xfrm>
            <a:off x="2340864" y="2679192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21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291840" y="2679192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12h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480560" y="1645920"/>
            <a:ext cx="4434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— Ensemble pondéré (jeu de test)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480560" y="1965960"/>
            <a:ext cx="1024128" cy="1234440"/>
          </a:xfrm>
          <a:prstGeom prst="roundRect">
            <a:avLst>
              <a:gd name="adj" fmla="val 8929"/>
            </a:avLst>
          </a:prstGeom>
          <a:solidFill>
            <a:srgbClr val="121A4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480560" y="2057400"/>
            <a:ext cx="1024128" cy="6419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49.29</a:t>
            </a:r>
            <a:endParaRPr lang="en-US" sz="3000" dirty="0"/>
          </a:p>
        </p:txBody>
      </p:sp>
      <p:sp>
        <p:nvSpPr>
          <p:cNvPr id="36" name="Text 34"/>
          <p:cNvSpPr/>
          <p:nvPr/>
        </p:nvSpPr>
        <p:spPr>
          <a:xfrm>
            <a:off x="4480560" y="2644902"/>
            <a:ext cx="1024128" cy="3456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A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596128" y="1965960"/>
            <a:ext cx="1024128" cy="1234440"/>
          </a:xfrm>
          <a:prstGeom prst="roundRect">
            <a:avLst>
              <a:gd name="adj" fmla="val 8929"/>
            </a:avLst>
          </a:prstGeom>
          <a:solidFill>
            <a:srgbClr val="121A4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5596128" y="2057400"/>
            <a:ext cx="1024128" cy="6419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-4.07%</a:t>
            </a:r>
            <a:endParaRPr lang="en-US" sz="3000" dirty="0"/>
          </a:p>
        </p:txBody>
      </p:sp>
      <p:sp>
        <p:nvSpPr>
          <p:cNvPr id="39" name="Text 37"/>
          <p:cNvSpPr/>
          <p:nvPr/>
        </p:nvSpPr>
        <p:spPr>
          <a:xfrm>
            <a:off x="5596128" y="2644902"/>
            <a:ext cx="1024128" cy="3456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A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DD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711696" y="1965960"/>
            <a:ext cx="1024128" cy="1234440"/>
          </a:xfrm>
          <a:prstGeom prst="roundRect">
            <a:avLst>
              <a:gd name="adj" fmla="val 8929"/>
            </a:avLst>
          </a:prstGeom>
          <a:solidFill>
            <a:srgbClr val="121A4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6711696" y="2057400"/>
            <a:ext cx="1024128" cy="6419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73.5%</a:t>
            </a:r>
            <a:endParaRPr lang="en-US" sz="3000" dirty="0"/>
          </a:p>
        </p:txBody>
      </p:sp>
      <p:sp>
        <p:nvSpPr>
          <p:cNvPr id="42" name="Text 40"/>
          <p:cNvSpPr/>
          <p:nvPr/>
        </p:nvSpPr>
        <p:spPr>
          <a:xfrm>
            <a:off x="6711696" y="2644902"/>
            <a:ext cx="1024128" cy="3456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A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Rate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7827264" y="1965960"/>
            <a:ext cx="1024128" cy="1234440"/>
          </a:xfrm>
          <a:prstGeom prst="roundRect">
            <a:avLst>
              <a:gd name="adj" fmla="val 8929"/>
            </a:avLst>
          </a:prstGeom>
          <a:solidFill>
            <a:srgbClr val="121A4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7827264" y="2057400"/>
            <a:ext cx="1024128" cy="6419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72%</a:t>
            </a:r>
            <a:endParaRPr lang="en-US" sz="3000" dirty="0"/>
          </a:p>
        </p:txBody>
      </p:sp>
      <p:sp>
        <p:nvSpPr>
          <p:cNvPr id="45" name="Text 43"/>
          <p:cNvSpPr/>
          <p:nvPr/>
        </p:nvSpPr>
        <p:spPr>
          <a:xfrm>
            <a:off x="7827264" y="2644902"/>
            <a:ext cx="1024128" cy="3456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A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Exposition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228600" y="329184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Comparaison backtest — tous les systèmes</a:t>
            </a:r>
            <a:endParaRPr lang="en-US" sz="1000" dirty="0"/>
          </a:p>
        </p:txBody>
      </p:sp>
      <p:graphicFrame>
        <p:nvGraphicFramePr>
          <p:cNvPr id="47" name="Chart 0" descr=""/>
          <p:cNvGraphicFramePr/>
          <p:nvPr/>
        </p:nvGraphicFramePr>
        <p:xfrm>
          <a:off x="228600" y="3593592"/>
          <a:ext cx="5029200" cy="1600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8" name="Chart 1" descr=""/>
          <p:cNvGraphicFramePr/>
          <p:nvPr/>
        </p:nvGraphicFramePr>
        <p:xfrm>
          <a:off x="5394960" y="3593592"/>
          <a:ext cx="3520440" cy="1600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9" name="Text 45"/>
          <p:cNvSpPr/>
          <p:nvPr/>
        </p:nvSpPr>
        <p:spPr>
          <a:xfrm>
            <a:off x="1371600" y="521208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 (plus haut = mieux)</a:t>
            </a:r>
            <a:endParaRPr lang="en-US" sz="800" dirty="0"/>
          </a:p>
        </p:txBody>
      </p:sp>
      <p:sp>
        <p:nvSpPr>
          <p:cNvPr id="50" name="Text 46"/>
          <p:cNvSpPr/>
          <p:nvPr/>
        </p:nvSpPr>
        <p:spPr>
          <a:xfrm>
            <a:off x="5669280" y="521208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Drawdown % (plus bas = mieux)</a:t>
            </a:r>
            <a:endParaRPr lang="en-US" sz="800" dirty="0"/>
          </a:p>
        </p:txBody>
      </p:sp>
      <p:sp>
        <p:nvSpPr>
          <p:cNvPr id="51" name="Shape 47"/>
          <p:cNvSpPr/>
          <p:nvPr/>
        </p:nvSpPr>
        <p:spPr>
          <a:xfrm>
            <a:off x="228600" y="5285232"/>
            <a:ext cx="8686800" cy="274320"/>
          </a:xfrm>
          <a:prstGeom prst="roundRect">
            <a:avLst>
              <a:gd name="adj" fmla="val 20000"/>
            </a:avLst>
          </a:prstGeom>
          <a:solidFill>
            <a:srgbClr val="FFFBEB"/>
          </a:solidFill>
          <a:ln/>
        </p:spPr>
      </p:sp>
      <p:sp>
        <p:nvSpPr>
          <p:cNvPr id="52" name="Text 48"/>
          <p:cNvSpPr/>
          <p:nvPr/>
        </p:nvSpPr>
        <p:spPr>
          <a:xfrm>
            <a:off x="320040" y="5303520"/>
            <a:ext cx="8503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CAGR/Retour total non interprétables — 180 jours seulement — Sharpe, Max DD et Win Rate sont les métriques fiables.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21A40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68580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— Déploiement : API FastAPI + Docker multi-stage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20116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7/8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8869680" y="4892040"/>
            <a:ext cx="274320" cy="2286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8869680" y="489204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28600" y="86868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endpoints REST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8600" y="1188720"/>
            <a:ext cx="429768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292608" y="1261872"/>
            <a:ext cx="566928" cy="274320"/>
          </a:xfrm>
          <a:prstGeom prst="roundRect">
            <a:avLst>
              <a:gd name="adj" fmla="val 16667"/>
            </a:avLst>
          </a:prstGeom>
          <a:solidFill>
            <a:srgbClr val="8BA4D8"/>
          </a:solidFill>
          <a:ln/>
        </p:spPr>
      </p:sp>
      <p:sp>
        <p:nvSpPr>
          <p:cNvPr id="10" name="Text 8"/>
          <p:cNvSpPr/>
          <p:nvPr/>
        </p:nvSpPr>
        <p:spPr>
          <a:xfrm>
            <a:off x="292608" y="1261872"/>
            <a:ext cx="5669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14400" y="1243584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651760" y="128016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 · uptime · poids · actifs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28600" y="1700784"/>
            <a:ext cx="4297680" cy="45720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14" name="Shape 12"/>
          <p:cNvSpPr/>
          <p:nvPr/>
        </p:nvSpPr>
        <p:spPr>
          <a:xfrm>
            <a:off x="292608" y="1773936"/>
            <a:ext cx="566928" cy="274320"/>
          </a:xfrm>
          <a:prstGeom prst="roundRect">
            <a:avLst>
              <a:gd name="adj" fmla="val 16667"/>
            </a:avLst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292608" y="1773936"/>
            <a:ext cx="5669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914400" y="1755648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/health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651760" y="1792224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Modèles chargés · données OK · dégradé/ok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28600" y="2212848"/>
            <a:ext cx="429768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292608" y="2286000"/>
            <a:ext cx="566928" cy="274320"/>
          </a:xfrm>
          <a:prstGeom prst="roundRect">
            <a:avLst>
              <a:gd name="adj" fmla="val 16667"/>
            </a:avLst>
          </a:prstGeom>
          <a:solidFill>
            <a:srgbClr val="2563EB"/>
          </a:solidFill>
          <a:ln/>
        </p:spPr>
      </p:sp>
      <p:sp>
        <p:nvSpPr>
          <p:cNvPr id="20" name="Text 18"/>
          <p:cNvSpPr/>
          <p:nvPr/>
        </p:nvSpPr>
        <p:spPr>
          <a:xfrm>
            <a:off x="292608" y="2286000"/>
            <a:ext cx="5669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914400" y="2267712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/models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651760" y="2304288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 · paramètres · poids · fichier .pt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28600" y="2724912"/>
            <a:ext cx="4297680" cy="45720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24" name="Shape 22"/>
          <p:cNvSpPr/>
          <p:nvPr/>
        </p:nvSpPr>
        <p:spPr>
          <a:xfrm>
            <a:off x="292608" y="2798064"/>
            <a:ext cx="566928" cy="274320"/>
          </a:xfrm>
          <a:prstGeom prst="roundRect">
            <a:avLst>
              <a:gd name="adj" fmla="val 16667"/>
            </a:avLst>
          </a:prstGeom>
          <a:solidFill>
            <a:srgbClr val="7C3AED"/>
          </a:solidFill>
          <a:ln/>
        </p:spPr>
      </p:sp>
      <p:sp>
        <p:nvSpPr>
          <p:cNvPr id="25" name="Text 23"/>
          <p:cNvSpPr/>
          <p:nvPr/>
        </p:nvSpPr>
        <p:spPr>
          <a:xfrm>
            <a:off x="292608" y="2798064"/>
            <a:ext cx="5669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914400" y="2779776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/predict/{m}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651760" y="2816352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Prédiction individuelle (asset, threshold)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28600" y="3236976"/>
            <a:ext cx="429768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Shape 27"/>
          <p:cNvSpPr/>
          <p:nvPr/>
        </p:nvSpPr>
        <p:spPr>
          <a:xfrm>
            <a:off x="292608" y="3310128"/>
            <a:ext cx="566928" cy="274320"/>
          </a:xfrm>
          <a:prstGeom prst="roundRect">
            <a:avLst>
              <a:gd name="adj" fmla="val 16667"/>
            </a:avLst>
          </a:prstGeom>
          <a:solidFill>
            <a:srgbClr val="22C55E"/>
          </a:solidFill>
          <a:ln/>
        </p:spPr>
      </p:sp>
      <p:sp>
        <p:nvSpPr>
          <p:cNvPr id="30" name="Text 28"/>
          <p:cNvSpPr/>
          <p:nvPr/>
        </p:nvSpPr>
        <p:spPr>
          <a:xfrm>
            <a:off x="292608" y="3310128"/>
            <a:ext cx="5669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914400" y="329184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/predict/ensemble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651760" y="3328416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pondéré final ★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28600" y="3749040"/>
            <a:ext cx="4297680" cy="45720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34" name="Shape 32"/>
          <p:cNvSpPr/>
          <p:nvPr/>
        </p:nvSpPr>
        <p:spPr>
          <a:xfrm>
            <a:off x="292608" y="3822192"/>
            <a:ext cx="566928" cy="274320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/>
        </p:spPr>
      </p:sp>
      <p:sp>
        <p:nvSpPr>
          <p:cNvPr id="35" name="Text 33"/>
          <p:cNvSpPr/>
          <p:nvPr/>
        </p:nvSpPr>
        <p:spPr>
          <a:xfrm>
            <a:off x="292608" y="3822192"/>
            <a:ext cx="5669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914400" y="3803904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/predict/ensemble/scan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2651760" y="384048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4 actifs en parallèle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709160" y="86868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Dockerfile multi-stage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709160" y="1170432"/>
            <a:ext cx="4206240" cy="2194560"/>
          </a:xfrm>
          <a:prstGeom prst="roundRect">
            <a:avLst>
              <a:gd name="adj" fmla="val 4167"/>
            </a:avLst>
          </a:prstGeom>
          <a:solidFill>
            <a:srgbClr val="0F172A"/>
          </a:solidFill>
          <a:ln/>
        </p:spPr>
      </p:sp>
      <p:sp>
        <p:nvSpPr>
          <p:cNvPr id="40" name="Text 38"/>
          <p:cNvSpPr/>
          <p:nvPr/>
        </p:nvSpPr>
        <p:spPr>
          <a:xfrm>
            <a:off x="4828032" y="1216152"/>
            <a:ext cx="397764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A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Stage 1 — builder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828032" y="1389888"/>
            <a:ext cx="397764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python:3.11-slim AS builder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4828032" y="1563624"/>
            <a:ext cx="397764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pip install --user -r requirements-deploy.txt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4828032" y="1737360"/>
            <a:ext cx="397764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4828032" y="1911096"/>
            <a:ext cx="397764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A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Stage 2 — image finale légère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828032" y="2084832"/>
            <a:ext cx="397764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python:3.11-slim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4828032" y="2258568"/>
            <a:ext cx="397764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--from=builder /root/.local /root/.local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4828032" y="2432304"/>
            <a:ext cx="397764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src/ ./src/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4828032" y="2606040"/>
            <a:ext cx="397764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config.yaml .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4828032" y="2779776"/>
            <a:ext cx="397764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HEALTHCHECK --interval=30s \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4828032" y="2953512"/>
            <a:ext cx="397764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CMD python -c "urllib.request.urlopen('...health')"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4828032" y="3127248"/>
            <a:ext cx="397764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 ["uvicorn","src.api:app","--host","0.0.0.0"]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4709160" y="3456432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Démarrage production (2 commandes)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4709160" y="3749040"/>
            <a:ext cx="4206240" cy="621792"/>
          </a:xfrm>
          <a:prstGeom prst="roundRect">
            <a:avLst>
              <a:gd name="adj" fmla="val 11765"/>
            </a:avLst>
          </a:prstGeom>
          <a:solidFill>
            <a:srgbClr val="0F172A"/>
          </a:solidFill>
          <a:ln/>
        </p:spPr>
      </p:sp>
      <p:sp>
        <p:nvSpPr>
          <p:cNvPr id="54" name="Text 52"/>
          <p:cNvSpPr/>
          <p:nvPr/>
        </p:nvSpPr>
        <p:spPr>
          <a:xfrm>
            <a:off x="4828032" y="3794760"/>
            <a:ext cx="3977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build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4828032" y="4005072"/>
            <a:ext cx="3977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up -d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4828032" y="4224528"/>
            <a:ext cx="3977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A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→ http://localhost:8000/docs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4709160" y="4434840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Latences mesurées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4709160" y="4718304"/>
            <a:ext cx="4206240" cy="2011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9" name="Text 57"/>
          <p:cNvSpPr/>
          <p:nvPr/>
        </p:nvSpPr>
        <p:spPr>
          <a:xfrm>
            <a:off x="4773168" y="4727448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/health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7406640" y="4736592"/>
            <a:ext cx="548640" cy="274320"/>
          </a:xfrm>
          <a:prstGeom prst="roundRect">
            <a:avLst>
              <a:gd name="adj" fmla="val 16667"/>
            </a:avLst>
          </a:prstGeom>
          <a:solidFill>
            <a:srgbClr val="22C55E"/>
          </a:solidFill>
          <a:ln/>
        </p:spPr>
      </p:sp>
      <p:sp>
        <p:nvSpPr>
          <p:cNvPr id="61" name="Text 59"/>
          <p:cNvSpPr/>
          <p:nvPr/>
        </p:nvSpPr>
        <p:spPr>
          <a:xfrm>
            <a:off x="7406640" y="473659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 10 ms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4709160" y="4937760"/>
            <a:ext cx="4206240" cy="201168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63" name="Text 61"/>
          <p:cNvSpPr/>
          <p:nvPr/>
        </p:nvSpPr>
        <p:spPr>
          <a:xfrm>
            <a:off x="4773168" y="4946904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/predict/{m}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7406640" y="4956048"/>
            <a:ext cx="548640" cy="274320"/>
          </a:xfrm>
          <a:prstGeom prst="roundRect">
            <a:avLst>
              <a:gd name="adj" fmla="val 16667"/>
            </a:avLst>
          </a:prstGeom>
          <a:solidFill>
            <a:srgbClr val="0D9488"/>
          </a:solidFill>
          <a:ln/>
        </p:spPr>
      </p:sp>
      <p:sp>
        <p:nvSpPr>
          <p:cNvPr id="65" name="Text 63"/>
          <p:cNvSpPr/>
          <p:nvPr/>
        </p:nvSpPr>
        <p:spPr>
          <a:xfrm>
            <a:off x="7406640" y="495604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~80 ms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4709160" y="5157216"/>
            <a:ext cx="4206240" cy="2011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7" name="Text 65"/>
          <p:cNvSpPr/>
          <p:nvPr/>
        </p:nvSpPr>
        <p:spPr>
          <a:xfrm>
            <a:off x="4773168" y="516636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/predict/ensemble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7406640" y="5175504"/>
            <a:ext cx="548640" cy="274320"/>
          </a:xfrm>
          <a:prstGeom prst="roundRect">
            <a:avLst>
              <a:gd name="adj" fmla="val 16667"/>
            </a:avLst>
          </a:prstGeom>
          <a:solidFill>
            <a:srgbClr val="2563EB"/>
          </a:solidFill>
          <a:ln/>
        </p:spPr>
      </p:sp>
      <p:sp>
        <p:nvSpPr>
          <p:cNvPr id="69" name="Text 67"/>
          <p:cNvSpPr/>
          <p:nvPr/>
        </p:nvSpPr>
        <p:spPr>
          <a:xfrm>
            <a:off x="7406640" y="517550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~220 ms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4709160" y="5376672"/>
            <a:ext cx="4206240" cy="201168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71" name="Text 69"/>
          <p:cNvSpPr/>
          <p:nvPr/>
        </p:nvSpPr>
        <p:spPr>
          <a:xfrm>
            <a:off x="4773168" y="5385816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/scan (4 actifs)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7406640" y="5394960"/>
            <a:ext cx="548640" cy="274320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/>
        </p:spPr>
      </p:sp>
      <p:sp>
        <p:nvSpPr>
          <p:cNvPr id="73" name="Text 71"/>
          <p:cNvSpPr/>
          <p:nvPr/>
        </p:nvSpPr>
        <p:spPr>
          <a:xfrm>
            <a:off x="7406640" y="5394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~650 ms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228600" y="4389120"/>
            <a:ext cx="4297680" cy="502920"/>
          </a:xfrm>
          <a:prstGeom prst="rect">
            <a:avLst/>
          </a:prstGeom>
          <a:solidFill>
            <a:srgbClr val="121A40"/>
          </a:solidFill>
          <a:ln/>
        </p:spPr>
      </p:sp>
      <p:sp>
        <p:nvSpPr>
          <p:cNvPr id="75" name="Text 73"/>
          <p:cNvSpPr/>
          <p:nvPr/>
        </p:nvSpPr>
        <p:spPr>
          <a:xfrm>
            <a:off x="320040" y="4407408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déploiement  ·  CPU only (pas de GPU requis)  ·  &lt;2 Go RAM  ·  python:3.11-slim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228600" y="4956048"/>
            <a:ext cx="4297680" cy="640080"/>
          </a:xfrm>
          <a:prstGeom prst="roundRect">
            <a:avLst>
              <a:gd name="adj" fmla="val 11429"/>
            </a:avLst>
          </a:prstGeom>
          <a:solidFill>
            <a:srgbClr val="0F172A"/>
          </a:solidFill>
          <a:ln/>
        </p:spPr>
      </p:sp>
      <p:sp>
        <p:nvSpPr>
          <p:cNvPr id="77" name="Text 75"/>
          <p:cNvSpPr/>
          <p:nvPr/>
        </p:nvSpPr>
        <p:spPr>
          <a:xfrm>
            <a:off x="347472" y="4992624"/>
            <a:ext cx="4069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PatchTST-Trading-MultiModel</a:t>
            </a:r>
            <a:endParaRPr lang="en-US" sz="750" dirty="0"/>
          </a:p>
        </p:txBody>
      </p:sp>
      <p:sp>
        <p:nvSpPr>
          <p:cNvPr id="78" name="Text 76"/>
          <p:cNvSpPr/>
          <p:nvPr/>
        </p:nvSpPr>
        <p:spPr>
          <a:xfrm>
            <a:off x="347472" y="5193792"/>
            <a:ext cx="4069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PatchTST-Trading-MultiModel-Ensemble</a:t>
            </a:r>
            <a:endParaRPr lang="en-US" sz="750" dirty="0"/>
          </a:p>
        </p:txBody>
      </p:sp>
      <p:sp>
        <p:nvSpPr>
          <p:cNvPr id="79" name="Text 77"/>
          <p:cNvSpPr/>
          <p:nvPr/>
        </p:nvSpPr>
        <p:spPr>
          <a:xfrm>
            <a:off x="347472" y="5394960"/>
            <a:ext cx="4069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PatchTST-Trading-MultiModel-Optuna-MultiObj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21A40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68580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— Pipeline CI/CD — GitHub Actions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20116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8/8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8869680" y="4892040"/>
            <a:ext cx="274320" cy="2286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8869680" y="489204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28600" y="868680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CI (ci.yml) — déclencheur : push sur toute branche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28600" y="1188720"/>
            <a:ext cx="822960" cy="640080"/>
          </a:xfrm>
          <a:prstGeom prst="roundRect">
            <a:avLst>
              <a:gd name="adj" fmla="val 11429"/>
            </a:avLst>
          </a:prstGeom>
          <a:solidFill>
            <a:srgbClr val="8BA4D8"/>
          </a:solidFill>
          <a:ln/>
        </p:spPr>
      </p:sp>
      <p:sp>
        <p:nvSpPr>
          <p:cNvPr id="9" name="Text 7"/>
          <p:cNvSpPr/>
          <p:nvPr/>
        </p:nvSpPr>
        <p:spPr>
          <a:xfrm>
            <a:off x="228600" y="118872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push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051560" y="1508760"/>
            <a:ext cx="109728" cy="0"/>
          </a:xfrm>
          <a:prstGeom prst="line">
            <a:avLst/>
          </a:prstGeom>
          <a:noFill/>
          <a:ln w="12700">
            <a:solidFill>
              <a:srgbClr val="37415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61288" y="1188720"/>
            <a:ext cx="822960" cy="640080"/>
          </a:xfrm>
          <a:prstGeom prst="roundRect">
            <a:avLst>
              <a:gd name="adj" fmla="val 11429"/>
            </a:avLst>
          </a:prstGeom>
          <a:solidFill>
            <a:srgbClr val="121A40"/>
          </a:solidFill>
          <a:ln/>
        </p:spPr>
      </p:sp>
      <p:sp>
        <p:nvSpPr>
          <p:cNvPr id="12" name="Text 10"/>
          <p:cNvSpPr/>
          <p:nvPr/>
        </p:nvSpPr>
        <p:spPr>
          <a:xfrm>
            <a:off x="1161288" y="118872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v4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984248" y="1508760"/>
            <a:ext cx="109728" cy="0"/>
          </a:xfrm>
          <a:prstGeom prst="line">
            <a:avLst/>
          </a:prstGeom>
          <a:noFill/>
          <a:ln w="12700">
            <a:solidFill>
              <a:srgbClr val="37415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93976" y="1188720"/>
            <a:ext cx="822960" cy="640080"/>
          </a:xfrm>
          <a:prstGeom prst="roundRect">
            <a:avLst>
              <a:gd name="adj" fmla="val 11429"/>
            </a:avLst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2093976" y="118872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3.11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916936" y="1508760"/>
            <a:ext cx="109728" cy="0"/>
          </a:xfrm>
          <a:prstGeom prst="line">
            <a:avLst/>
          </a:prstGeom>
          <a:noFill/>
          <a:ln w="12700">
            <a:solidFill>
              <a:srgbClr val="37415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026664" y="1188720"/>
            <a:ext cx="822960" cy="640080"/>
          </a:xfrm>
          <a:prstGeom prst="roundRect">
            <a:avLst>
              <a:gd name="adj" fmla="val 11429"/>
            </a:avLst>
          </a:prstGeom>
          <a:solidFill>
            <a:srgbClr val="121A40"/>
          </a:solidFill>
          <a:ln/>
        </p:spPr>
      </p:sp>
      <p:sp>
        <p:nvSpPr>
          <p:cNvPr id="18" name="Text 16"/>
          <p:cNvSpPr/>
          <p:nvPr/>
        </p:nvSpPr>
        <p:spPr>
          <a:xfrm>
            <a:off x="3026664" y="118872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849624" y="1508760"/>
            <a:ext cx="109728" cy="0"/>
          </a:xfrm>
          <a:prstGeom prst="line">
            <a:avLst/>
          </a:prstGeom>
          <a:noFill/>
          <a:ln w="12700">
            <a:solidFill>
              <a:srgbClr val="37415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959352" y="1188720"/>
            <a:ext cx="822960" cy="640080"/>
          </a:xfrm>
          <a:prstGeom prst="roundRect">
            <a:avLst>
              <a:gd name="adj" fmla="val 11429"/>
            </a:avLst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3959352" y="118872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flake8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82312" y="1508760"/>
            <a:ext cx="109728" cy="0"/>
          </a:xfrm>
          <a:prstGeom prst="line">
            <a:avLst/>
          </a:prstGeom>
          <a:noFill/>
          <a:ln w="12700">
            <a:solidFill>
              <a:srgbClr val="37415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92040" y="1188720"/>
            <a:ext cx="822960" cy="640080"/>
          </a:xfrm>
          <a:prstGeom prst="roundRect">
            <a:avLst>
              <a:gd name="adj" fmla="val 11429"/>
            </a:avLst>
          </a:prstGeom>
          <a:solidFill>
            <a:srgbClr val="22C55E"/>
          </a:solidFill>
          <a:ln/>
        </p:spPr>
      </p:sp>
      <p:sp>
        <p:nvSpPr>
          <p:cNvPr id="24" name="Text 22"/>
          <p:cNvSpPr/>
          <p:nvPr/>
        </p:nvSpPr>
        <p:spPr>
          <a:xfrm>
            <a:off x="4892040" y="118872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+cov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715000" y="1508760"/>
            <a:ext cx="109728" cy="0"/>
          </a:xfrm>
          <a:prstGeom prst="line">
            <a:avLst/>
          </a:prstGeom>
          <a:noFill/>
          <a:ln w="12700">
            <a:solidFill>
              <a:srgbClr val="37415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824728" y="1188720"/>
            <a:ext cx="822960" cy="640080"/>
          </a:xfrm>
          <a:prstGeom prst="roundRect">
            <a:avLst>
              <a:gd name="adj" fmla="val 11429"/>
            </a:avLst>
          </a:prstGeom>
          <a:solidFill>
            <a:srgbClr val="7C3AED"/>
          </a:solidFill>
          <a:ln/>
        </p:spPr>
      </p:sp>
      <p:sp>
        <p:nvSpPr>
          <p:cNvPr id="27" name="Text 25"/>
          <p:cNvSpPr/>
          <p:nvPr/>
        </p:nvSpPr>
        <p:spPr>
          <a:xfrm>
            <a:off x="5824728" y="118872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bandit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647688" y="1508760"/>
            <a:ext cx="109728" cy="0"/>
          </a:xfrm>
          <a:prstGeom prst="line">
            <a:avLst/>
          </a:prstGeom>
          <a:noFill/>
          <a:ln w="12700">
            <a:solidFill>
              <a:srgbClr val="37415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757416" y="1188720"/>
            <a:ext cx="822960" cy="640080"/>
          </a:xfrm>
          <a:prstGeom prst="roundRect">
            <a:avLst>
              <a:gd name="adj" fmla="val 11429"/>
            </a:avLst>
          </a:prstGeom>
          <a:solidFill>
            <a:srgbClr val="7C3AED"/>
          </a:solidFill>
          <a:ln/>
        </p:spPr>
      </p:sp>
      <p:sp>
        <p:nvSpPr>
          <p:cNvPr id="30" name="Text 28"/>
          <p:cNvSpPr/>
          <p:nvPr/>
        </p:nvSpPr>
        <p:spPr>
          <a:xfrm>
            <a:off x="6757416" y="118872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580376" y="1508760"/>
            <a:ext cx="109728" cy="0"/>
          </a:xfrm>
          <a:prstGeom prst="line">
            <a:avLst/>
          </a:prstGeom>
          <a:noFill/>
          <a:ln w="12700">
            <a:solidFill>
              <a:srgbClr val="37415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690104" y="1188720"/>
            <a:ext cx="822960" cy="640080"/>
          </a:xfrm>
          <a:prstGeom prst="roundRect">
            <a:avLst>
              <a:gd name="adj" fmla="val 11429"/>
            </a:avLst>
          </a:prstGeom>
          <a:solidFill>
            <a:srgbClr val="0D9488"/>
          </a:solidFill>
          <a:ln/>
        </p:spPr>
      </p:sp>
      <p:sp>
        <p:nvSpPr>
          <p:cNvPr id="33" name="Text 31"/>
          <p:cNvSpPr/>
          <p:nvPr/>
        </p:nvSpPr>
        <p:spPr>
          <a:xfrm>
            <a:off x="7690104" y="118872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yaml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28600" y="1965960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CD (cd.yml) — déclencheur : push main + CI réussi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28600" y="2286000"/>
            <a:ext cx="914400" cy="640080"/>
          </a:xfrm>
          <a:prstGeom prst="roundRect">
            <a:avLst>
              <a:gd name="adj" fmla="val 11429"/>
            </a:avLst>
          </a:prstGeom>
          <a:solidFill>
            <a:srgbClr val="0D9488"/>
          </a:solidFill>
          <a:ln/>
        </p:spPr>
      </p:sp>
      <p:sp>
        <p:nvSpPr>
          <p:cNvPr id="36" name="Text 34"/>
          <p:cNvSpPr/>
          <p:nvPr/>
        </p:nvSpPr>
        <p:spPr>
          <a:xfrm>
            <a:off x="228600" y="22860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OK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1143000" y="2606040"/>
            <a:ext cx="91440" cy="0"/>
          </a:xfrm>
          <a:prstGeom prst="line">
            <a:avLst/>
          </a:prstGeom>
          <a:noFill/>
          <a:ln w="12700">
            <a:solidFill>
              <a:srgbClr val="37415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234440" y="2286000"/>
            <a:ext cx="1051560" cy="640080"/>
          </a:xfrm>
          <a:prstGeom prst="roundRect">
            <a:avLst>
              <a:gd name="adj" fmla="val 11429"/>
            </a:avLst>
          </a:prstGeom>
          <a:solidFill>
            <a:srgbClr val="2563EB"/>
          </a:solidFill>
          <a:ln/>
        </p:spPr>
      </p:sp>
      <p:sp>
        <p:nvSpPr>
          <p:cNvPr id="39" name="Text 37"/>
          <p:cNvSpPr/>
          <p:nvPr/>
        </p:nvSpPr>
        <p:spPr>
          <a:xfrm>
            <a:off x="1234440" y="2286000"/>
            <a:ext cx="1051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GHCR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286000" y="2606040"/>
            <a:ext cx="91440" cy="0"/>
          </a:xfrm>
          <a:prstGeom prst="line">
            <a:avLst/>
          </a:prstGeom>
          <a:noFill/>
          <a:ln w="12700">
            <a:solidFill>
              <a:srgbClr val="37415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377440" y="2286000"/>
            <a:ext cx="1051560" cy="640080"/>
          </a:xfrm>
          <a:prstGeom prst="roundRect">
            <a:avLst>
              <a:gd name="adj" fmla="val 11429"/>
            </a:avLst>
          </a:prstGeom>
          <a:solidFill>
            <a:srgbClr val="1E3A8A"/>
          </a:solidFill>
          <a:ln/>
        </p:spPr>
      </p:sp>
      <p:sp>
        <p:nvSpPr>
          <p:cNvPr id="42" name="Text 40"/>
          <p:cNvSpPr/>
          <p:nvPr/>
        </p:nvSpPr>
        <p:spPr>
          <a:xfrm>
            <a:off x="2377440" y="2286000"/>
            <a:ext cx="1051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buildx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multi-arch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429000" y="2606040"/>
            <a:ext cx="91440" cy="0"/>
          </a:xfrm>
          <a:prstGeom prst="line">
            <a:avLst/>
          </a:prstGeom>
          <a:noFill/>
          <a:ln w="12700">
            <a:solidFill>
              <a:srgbClr val="374151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520440" y="2286000"/>
            <a:ext cx="1051560" cy="640080"/>
          </a:xfrm>
          <a:prstGeom prst="roundRect">
            <a:avLst>
              <a:gd name="adj" fmla="val 11429"/>
            </a:avLst>
          </a:prstGeom>
          <a:solidFill>
            <a:srgbClr val="2563EB"/>
          </a:solidFill>
          <a:ln/>
        </p:spPr>
      </p:sp>
      <p:sp>
        <p:nvSpPr>
          <p:cNvPr id="45" name="Text 43"/>
          <p:cNvSpPr/>
          <p:nvPr/>
        </p:nvSpPr>
        <p:spPr>
          <a:xfrm>
            <a:off x="3520440" y="2286000"/>
            <a:ext cx="1051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+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image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572000" y="2606040"/>
            <a:ext cx="91440" cy="0"/>
          </a:xfrm>
          <a:prstGeom prst="line">
            <a:avLst/>
          </a:prstGeom>
          <a:noFill/>
          <a:ln w="12700">
            <a:solidFill>
              <a:srgbClr val="374151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663440" y="2286000"/>
            <a:ext cx="1051560" cy="640080"/>
          </a:xfrm>
          <a:prstGeom prst="roundRect">
            <a:avLst>
              <a:gd name="adj" fmla="val 11429"/>
            </a:avLst>
          </a:prstGeom>
          <a:solidFill>
            <a:srgbClr val="F59E0B"/>
          </a:solidFill>
          <a:ln/>
        </p:spPr>
      </p:sp>
      <p:sp>
        <p:nvSpPr>
          <p:cNvPr id="48" name="Text 46"/>
          <p:cNvSpPr/>
          <p:nvPr/>
        </p:nvSpPr>
        <p:spPr>
          <a:xfrm>
            <a:off x="4663440" y="2286000"/>
            <a:ext cx="1051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run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start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5715000" y="2606040"/>
            <a:ext cx="91440" cy="0"/>
          </a:xfrm>
          <a:prstGeom prst="line">
            <a:avLst/>
          </a:prstGeom>
          <a:noFill/>
          <a:ln w="12700">
            <a:solidFill>
              <a:srgbClr val="374151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806440" y="2286000"/>
            <a:ext cx="1143000" cy="640080"/>
          </a:xfrm>
          <a:prstGeom prst="roundRect">
            <a:avLst>
              <a:gd name="adj" fmla="val 11429"/>
            </a:avLst>
          </a:prstGeom>
          <a:solidFill>
            <a:srgbClr val="22C55E"/>
          </a:solidFill>
          <a:ln/>
        </p:spPr>
      </p:sp>
      <p:sp>
        <p:nvSpPr>
          <p:cNvPr id="51" name="Text 49"/>
          <p:cNvSpPr/>
          <p:nvPr/>
        </p:nvSpPr>
        <p:spPr>
          <a:xfrm>
            <a:off x="5806440" y="2286000"/>
            <a:ext cx="1143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résumé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Summary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228600" y="306324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Suite de tests — 15 tests unitaires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228600" y="3364992"/>
            <a:ext cx="2834640" cy="2212848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228600" y="3364992"/>
            <a:ext cx="2834640" cy="43891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5" name="Text 53"/>
          <p:cNvSpPr/>
          <p:nvPr/>
        </p:nvSpPr>
        <p:spPr>
          <a:xfrm>
            <a:off x="283464" y="3383280"/>
            <a:ext cx="27614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tests/test_config.py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2560320" y="3419856"/>
            <a:ext cx="411480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/>
        </p:spPr>
      </p:sp>
      <p:sp>
        <p:nvSpPr>
          <p:cNvPr id="57" name="Text 55"/>
          <p:cNvSpPr/>
          <p:nvPr/>
        </p:nvSpPr>
        <p:spPr>
          <a:xfrm>
            <a:off x="2560320" y="3419856"/>
            <a:ext cx="411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5✓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320040" y="3840480"/>
            <a:ext cx="2697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Existence config.yaml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320040" y="4178808"/>
            <a:ext cx="2697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Clés requises (model,training,backtest...)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320040" y="4517136"/>
            <a:ext cx="2697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Valeurs model (seq_len&gt;0, n_classes=3)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320040" y="4855464"/>
            <a:ext cx="2697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Valeurs backtest (threshold ∈ [0,1])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320040" y="5193792"/>
            <a:ext cx="2697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Valeurs target (horizon&gt;0, thresholds&gt;0)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3154680" y="3364992"/>
            <a:ext cx="2834640" cy="2212848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3154680" y="3364992"/>
            <a:ext cx="2834640" cy="43891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5" name="Text 63"/>
          <p:cNvSpPr/>
          <p:nvPr/>
        </p:nvSpPr>
        <p:spPr>
          <a:xfrm>
            <a:off x="3209544" y="3383280"/>
            <a:ext cx="27614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tests/test_api_structure.py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5486400" y="3419856"/>
            <a:ext cx="411480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/>
        </p:spPr>
      </p:sp>
      <p:sp>
        <p:nvSpPr>
          <p:cNvPr id="67" name="Text 65"/>
          <p:cNvSpPr/>
          <p:nvPr/>
        </p:nvSpPr>
        <p:spPr>
          <a:xfrm>
            <a:off x="5486400" y="3419856"/>
            <a:ext cx="411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5✓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3246120" y="3840480"/>
            <a:ext cx="2697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src/api.py existe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3246120" y="4178808"/>
            <a:ext cx="2697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Syntaxe Python valide (ast.parse)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3246120" y="4517136"/>
            <a:ext cx="2697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Endpoints /health /models /predict/ensemble présents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3246120" y="4855464"/>
            <a:ext cx="2697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FastAPI et CORSMiddleware importés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3246120" y="5193792"/>
            <a:ext cx="2697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ENSEMBLE_MEMBERS défini avec les 3 modèles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6080760" y="3364992"/>
            <a:ext cx="2834640" cy="2212848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4" name="Shape 72"/>
          <p:cNvSpPr/>
          <p:nvPr/>
        </p:nvSpPr>
        <p:spPr>
          <a:xfrm>
            <a:off x="6080760" y="3364992"/>
            <a:ext cx="2834640" cy="438912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75" name="Text 73"/>
          <p:cNvSpPr/>
          <p:nvPr/>
        </p:nvSpPr>
        <p:spPr>
          <a:xfrm>
            <a:off x="6135624" y="3383280"/>
            <a:ext cx="27614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tests/test_utils.py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8412480" y="3419856"/>
            <a:ext cx="411480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/>
        </p:spPr>
      </p:sp>
      <p:sp>
        <p:nvSpPr>
          <p:cNvPr id="77" name="Text 75"/>
          <p:cNvSpPr/>
          <p:nvPr/>
        </p:nvSpPr>
        <p:spPr>
          <a:xfrm>
            <a:off x="8412480" y="3419856"/>
            <a:ext cx="411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5✓</a:t>
            </a:r>
            <a:endParaRPr lang="en-US" sz="1100" dirty="0"/>
          </a:p>
        </p:txBody>
      </p:sp>
      <p:sp>
        <p:nvSpPr>
          <p:cNvPr id="78" name="Text 76"/>
          <p:cNvSpPr/>
          <p:nvPr/>
        </p:nvSpPr>
        <p:spPr>
          <a:xfrm>
            <a:off x="6172200" y="3840480"/>
            <a:ext cx="2697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Signal BUY (prob_buy≥0.45 &gt; prob_sell)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6172200" y="4178808"/>
            <a:ext cx="2697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Signal SELL (prob_sell≥0.45 &gt; prob_buy)</a:t>
            </a:r>
            <a:endParaRPr lang="en-US" sz="900" dirty="0"/>
          </a:p>
        </p:txBody>
      </p:sp>
      <p:sp>
        <p:nvSpPr>
          <p:cNvPr id="80" name="Text 78"/>
          <p:cNvSpPr/>
          <p:nvPr/>
        </p:nvSpPr>
        <p:spPr>
          <a:xfrm>
            <a:off x="6172200" y="4517136"/>
            <a:ext cx="2697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Signal HOLD (aucun seuil atteint)</a:t>
            </a:r>
            <a:endParaRPr lang="en-US" sz="900" dirty="0"/>
          </a:p>
        </p:txBody>
      </p:sp>
      <p:sp>
        <p:nvSpPr>
          <p:cNvPr id="81" name="Text 79"/>
          <p:cNvSpPr/>
          <p:nvPr/>
        </p:nvSpPr>
        <p:spPr>
          <a:xfrm>
            <a:off x="6172200" y="4855464"/>
            <a:ext cx="2697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Somme proba ensemble = 1.0</a:t>
            </a:r>
            <a:endParaRPr lang="en-US" sz="900" dirty="0"/>
          </a:p>
        </p:txBody>
      </p:sp>
      <p:sp>
        <p:nvSpPr>
          <p:cNvPr id="82" name="Text 80"/>
          <p:cNvSpPr/>
          <p:nvPr/>
        </p:nvSpPr>
        <p:spPr>
          <a:xfrm>
            <a:off x="6172200" y="5193792"/>
            <a:ext cx="2697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Agrégation portefeuille par timestamp correcte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21A40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68580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Annexe — 7 bugs critiques identifiés et corrigés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20116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Transparence méthodologique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8869680" y="4892040"/>
            <a:ext cx="274320" cy="2286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8869680" y="489204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28600" y="86868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Tous les bugs sont documentés avec cause racine et correction appliquée.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28600" y="1188720"/>
            <a:ext cx="8686800" cy="4937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228600" y="1188720"/>
            <a:ext cx="54864" cy="493776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0" name="Shape 8"/>
          <p:cNvSpPr/>
          <p:nvPr/>
        </p:nvSpPr>
        <p:spPr>
          <a:xfrm>
            <a:off x="338328" y="1261872"/>
            <a:ext cx="384048" cy="274320"/>
          </a:xfrm>
          <a:prstGeom prst="roundRect">
            <a:avLst>
              <a:gd name="adj" fmla="val 16667"/>
            </a:avLst>
          </a:prstGeom>
          <a:solidFill>
            <a:srgbClr val="EF4444"/>
          </a:solidFill>
          <a:ln/>
        </p:spPr>
      </p:sp>
      <p:sp>
        <p:nvSpPr>
          <p:cNvPr id="11" name="Text 9"/>
          <p:cNvSpPr/>
          <p:nvPr/>
        </p:nvSpPr>
        <p:spPr>
          <a:xfrm>
            <a:off x="338328" y="1261872"/>
            <a:ext cx="384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04672" y="1225296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Backtest multi-actifs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04672" y="1463040"/>
            <a:ext cx="777240" cy="182880"/>
          </a:xfrm>
          <a:prstGeom prst="roundRect">
            <a:avLst>
              <a:gd name="adj" fmla="val 20000"/>
            </a:avLst>
          </a:prstGeom>
          <a:solidFill>
            <a:srgbClr val="F5F3FF"/>
          </a:solidFill>
          <a:ln/>
        </p:spPr>
      </p:sp>
      <p:sp>
        <p:nvSpPr>
          <p:cNvPr id="14" name="Text 12"/>
          <p:cNvSpPr/>
          <p:nvPr/>
        </p:nvSpPr>
        <p:spPr>
          <a:xfrm>
            <a:off x="804672" y="1463040"/>
            <a:ext cx="777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Critique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2880360" y="1216152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 :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401568" y="1216152"/>
            <a:ext cx="5349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cumprod() sur séries BTC+ETH+BNB+SOL concaténées → compounding ×4 artificiel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880360" y="1435608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: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401568" y="1435608"/>
            <a:ext cx="5349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Agrégation par timestamp : portfolio = out.groupby("timestamp")["strategy_ret"].mean()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28600" y="1737360"/>
            <a:ext cx="8686800" cy="49377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20" name="Shape 18"/>
          <p:cNvSpPr/>
          <p:nvPr/>
        </p:nvSpPr>
        <p:spPr>
          <a:xfrm>
            <a:off x="228600" y="1737360"/>
            <a:ext cx="54864" cy="4937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Shape 19"/>
          <p:cNvSpPr/>
          <p:nvPr/>
        </p:nvSpPr>
        <p:spPr>
          <a:xfrm>
            <a:off x="338328" y="1810512"/>
            <a:ext cx="384048" cy="274320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338328" y="1810512"/>
            <a:ext cx="384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04672" y="1773936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 irréaliste (818 590%)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04672" y="2011680"/>
            <a:ext cx="777240" cy="182880"/>
          </a:xfrm>
          <a:prstGeom prst="roundRect">
            <a:avLst>
              <a:gd name="adj" fmla="val 20000"/>
            </a:avLst>
          </a:prstGeom>
          <a:solidFill>
            <a:srgbClr val="F5F3FF"/>
          </a:solidFill>
          <a:ln/>
        </p:spPr>
      </p:sp>
      <p:sp>
        <p:nvSpPr>
          <p:cNvPr id="25" name="Text 23"/>
          <p:cNvSpPr/>
          <p:nvPr/>
        </p:nvSpPr>
        <p:spPr>
          <a:xfrm>
            <a:off x="804672" y="2011680"/>
            <a:ext cx="777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2880360" y="1764792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 :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401568" y="1764792"/>
            <a:ext cx="5349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Formule CAGR appliquée sur 180 jours → extrapolation annuelle non interprétable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2880360" y="1984248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: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401568" y="1984248"/>
            <a:ext cx="5349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Documenter la limite. Utiliser Sharpe, Max DD et Win Rate pour l'évaluation financière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228600" y="2286000"/>
            <a:ext cx="8686800" cy="4937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Shape 29"/>
          <p:cNvSpPr/>
          <p:nvPr/>
        </p:nvSpPr>
        <p:spPr>
          <a:xfrm>
            <a:off x="228600" y="2286000"/>
            <a:ext cx="54864" cy="4937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2" name="Shape 30"/>
          <p:cNvSpPr/>
          <p:nvPr/>
        </p:nvSpPr>
        <p:spPr>
          <a:xfrm>
            <a:off x="338328" y="2359152"/>
            <a:ext cx="384048" cy="274320"/>
          </a:xfrm>
          <a:prstGeom prst="roundRect">
            <a:avLst>
              <a:gd name="adj" fmla="val 16667"/>
            </a:avLst>
          </a:prstGeom>
          <a:solidFill>
            <a:srgbClr val="2563EB"/>
          </a:solidFill>
          <a:ln/>
        </p:spPr>
      </p:sp>
      <p:sp>
        <p:nvSpPr>
          <p:cNvPr id="33" name="Text 31"/>
          <p:cNvSpPr/>
          <p:nvPr/>
        </p:nvSpPr>
        <p:spPr>
          <a:xfrm>
            <a:off x="338328" y="2359152"/>
            <a:ext cx="384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04672" y="2322576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circulaire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804672" y="2560320"/>
            <a:ext cx="777240" cy="182880"/>
          </a:xfrm>
          <a:prstGeom prst="roundRect">
            <a:avLst>
              <a:gd name="adj" fmla="val 20000"/>
            </a:avLst>
          </a:prstGeom>
          <a:solidFill>
            <a:srgbClr val="F5F3FF"/>
          </a:solidFill>
          <a:ln/>
        </p:spPr>
      </p:sp>
      <p:sp>
        <p:nvSpPr>
          <p:cNvPr id="36" name="Text 34"/>
          <p:cNvSpPr/>
          <p:nvPr/>
        </p:nvSpPr>
        <p:spPr>
          <a:xfrm>
            <a:off x="804672" y="2560320"/>
            <a:ext cx="777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Fonctionnel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2880360" y="2313432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 :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3401568" y="2313432"/>
            <a:ext cx="5349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src.model import... échoue selon le contexte d'exécution Colab/module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2880360" y="2532888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: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3401568" y="2532888"/>
            <a:ext cx="5349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try/except avec fallback : from model import... si le premier import échoue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228600" y="2834640"/>
            <a:ext cx="8686800" cy="49377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42" name="Shape 40"/>
          <p:cNvSpPr/>
          <p:nvPr/>
        </p:nvSpPr>
        <p:spPr>
          <a:xfrm>
            <a:off x="228600" y="2834640"/>
            <a:ext cx="54864" cy="4937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3" name="Shape 41"/>
          <p:cNvSpPr/>
          <p:nvPr/>
        </p:nvSpPr>
        <p:spPr>
          <a:xfrm>
            <a:off x="338328" y="2907792"/>
            <a:ext cx="384048" cy="274320"/>
          </a:xfrm>
          <a:prstGeom prst="roundRect">
            <a:avLst>
              <a:gd name="adj" fmla="val 16667"/>
            </a:avLst>
          </a:prstGeom>
          <a:solidFill>
            <a:srgbClr val="0D9488"/>
          </a:solidFill>
          <a:ln/>
        </p:spPr>
      </p:sp>
      <p:sp>
        <p:nvSpPr>
          <p:cNvPr id="44" name="Text 42"/>
          <p:cNvSpPr/>
          <p:nvPr/>
        </p:nvSpPr>
        <p:spPr>
          <a:xfrm>
            <a:off x="338328" y="2907792"/>
            <a:ext cx="384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804672" y="2871216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Paramètres inattendus PatchTST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804672" y="3108960"/>
            <a:ext cx="777240" cy="182880"/>
          </a:xfrm>
          <a:prstGeom prst="roundRect">
            <a:avLst>
              <a:gd name="adj" fmla="val 20000"/>
            </a:avLst>
          </a:prstGeom>
          <a:solidFill>
            <a:srgbClr val="F5F3FF"/>
          </a:solidFill>
          <a:ln/>
        </p:spPr>
      </p:sp>
      <p:sp>
        <p:nvSpPr>
          <p:cNvPr id="47" name="Text 45"/>
          <p:cNvSpPr/>
          <p:nvPr/>
        </p:nvSpPr>
        <p:spPr>
          <a:xfrm>
            <a:off x="804672" y="3108960"/>
            <a:ext cx="777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Fonctionnel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2880360" y="2862072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 :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3401568" y="2862072"/>
            <a:ext cx="5349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build_model(**cfg) passait hidden_dim, ensemble_members... inconnus du constructeur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2880360" y="3081528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: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3401568" y="3081528"/>
            <a:ext cx="5349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Filtrage via inspect.signature() — seuls les paramètres du constructeur sont passés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228600" y="3383280"/>
            <a:ext cx="8686800" cy="4937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3" name="Shape 51"/>
          <p:cNvSpPr/>
          <p:nvPr/>
        </p:nvSpPr>
        <p:spPr>
          <a:xfrm>
            <a:off x="228600" y="3383280"/>
            <a:ext cx="54864" cy="4937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4" name="Shape 52"/>
          <p:cNvSpPr/>
          <p:nvPr/>
        </p:nvSpPr>
        <p:spPr>
          <a:xfrm>
            <a:off x="338328" y="3456432"/>
            <a:ext cx="384048" cy="274320"/>
          </a:xfrm>
          <a:prstGeom prst="roundRect">
            <a:avLst>
              <a:gd name="adj" fmla="val 16667"/>
            </a:avLst>
          </a:prstGeom>
          <a:solidFill>
            <a:srgbClr val="7C3AED"/>
          </a:solidFill>
          <a:ln/>
        </p:spPr>
      </p:sp>
      <p:sp>
        <p:nvSpPr>
          <p:cNvPr id="55" name="Text 53"/>
          <p:cNvSpPr/>
          <p:nvPr/>
        </p:nvSpPr>
        <p:spPr>
          <a:xfrm>
            <a:off x="338328" y="3456432"/>
            <a:ext cx="384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804672" y="3419856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trial.report() multi-objectif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804672" y="3657600"/>
            <a:ext cx="777240" cy="182880"/>
          </a:xfrm>
          <a:prstGeom prst="roundRect">
            <a:avLst>
              <a:gd name="adj" fmla="val 20000"/>
            </a:avLst>
          </a:prstGeom>
          <a:solidFill>
            <a:srgbClr val="F5F3FF"/>
          </a:solidFill>
          <a:ln/>
        </p:spPr>
      </p:sp>
      <p:sp>
        <p:nvSpPr>
          <p:cNvPr id="58" name="Text 56"/>
          <p:cNvSpPr/>
          <p:nvPr/>
        </p:nvSpPr>
        <p:spPr>
          <a:xfrm>
            <a:off x="804672" y="3657600"/>
            <a:ext cx="777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2880360" y="3410712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 :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3401568" y="3410712"/>
            <a:ext cx="5349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NSGAIISampler incompatible avec trial.report() → NotImplementedError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2880360" y="3630168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: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3401568" y="3630168"/>
            <a:ext cx="5349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Supprimer trial.report() et trial.should_prune() — NSGAIISampler gère lui-même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228600" y="3931920"/>
            <a:ext cx="8686800" cy="49377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64" name="Shape 62"/>
          <p:cNvSpPr/>
          <p:nvPr/>
        </p:nvSpPr>
        <p:spPr>
          <a:xfrm>
            <a:off x="228600" y="3931920"/>
            <a:ext cx="54864" cy="4937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5" name="Shape 63"/>
          <p:cNvSpPr/>
          <p:nvPr/>
        </p:nvSpPr>
        <p:spPr>
          <a:xfrm>
            <a:off x="338328" y="4005072"/>
            <a:ext cx="384048" cy="274320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/>
        </p:spPr>
      </p:sp>
      <p:sp>
        <p:nvSpPr>
          <p:cNvPr id="66" name="Text 64"/>
          <p:cNvSpPr/>
          <p:nvPr/>
        </p:nvSpPr>
        <p:spPr>
          <a:xfrm>
            <a:off x="338328" y="4005072"/>
            <a:ext cx="384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804672" y="3968496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NameError: mlflow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804672" y="4206240"/>
            <a:ext cx="777240" cy="182880"/>
          </a:xfrm>
          <a:prstGeom prst="roundRect">
            <a:avLst>
              <a:gd name="adj" fmla="val 20000"/>
            </a:avLst>
          </a:prstGeom>
          <a:solidFill>
            <a:srgbClr val="F5F3FF"/>
          </a:solidFill>
          <a:ln/>
        </p:spPr>
      </p:sp>
      <p:sp>
        <p:nvSpPr>
          <p:cNvPr id="69" name="Text 67"/>
          <p:cNvSpPr/>
          <p:nvPr/>
        </p:nvSpPr>
        <p:spPr>
          <a:xfrm>
            <a:off x="804672" y="4206240"/>
            <a:ext cx="777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</a:t>
            </a:r>
            <a:endParaRPr lang="en-US" sz="750" dirty="0"/>
          </a:p>
        </p:txBody>
      </p:sp>
      <p:sp>
        <p:nvSpPr>
          <p:cNvPr id="70" name="Text 68"/>
          <p:cNvSpPr/>
          <p:nvPr/>
        </p:nvSpPr>
        <p:spPr>
          <a:xfrm>
            <a:off x="2880360" y="3959352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 :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3401568" y="3959352"/>
            <a:ext cx="5349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 importé dans une cellule séparée, invisible depuis train_model()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2880360" y="4178808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: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3401568" y="4178808"/>
            <a:ext cx="5349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Ajouter import mlflow au début de chaque cellule qui l'utilise — self-contained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228600" y="4480560"/>
            <a:ext cx="8686800" cy="4937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5" name="Shape 73"/>
          <p:cNvSpPr/>
          <p:nvPr/>
        </p:nvSpPr>
        <p:spPr>
          <a:xfrm>
            <a:off x="228600" y="4480560"/>
            <a:ext cx="54864" cy="4937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6" name="Shape 74"/>
          <p:cNvSpPr/>
          <p:nvPr/>
        </p:nvSpPr>
        <p:spPr>
          <a:xfrm>
            <a:off x="338328" y="4553712"/>
            <a:ext cx="384048" cy="274320"/>
          </a:xfrm>
          <a:prstGeom prst="roundRect">
            <a:avLst>
              <a:gd name="adj" fmla="val 16667"/>
            </a:avLst>
          </a:prstGeom>
          <a:solidFill>
            <a:srgbClr val="0D9488"/>
          </a:solidFill>
          <a:ln/>
        </p:spPr>
      </p:sp>
      <p:sp>
        <p:nvSpPr>
          <p:cNvPr id="77" name="Text 75"/>
          <p:cNvSpPr/>
          <p:nvPr/>
        </p:nvSpPr>
        <p:spPr>
          <a:xfrm>
            <a:off x="338328" y="4553712"/>
            <a:ext cx="384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78" name="Text 76"/>
          <p:cNvSpPr/>
          <p:nvPr/>
        </p:nvSpPr>
        <p:spPr>
          <a:xfrm>
            <a:off x="804672" y="4517136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Prédiction live : 0 &lt; 96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804672" y="4754880"/>
            <a:ext cx="777240" cy="182880"/>
          </a:xfrm>
          <a:prstGeom prst="roundRect">
            <a:avLst>
              <a:gd name="adj" fmla="val 20000"/>
            </a:avLst>
          </a:prstGeom>
          <a:solidFill>
            <a:srgbClr val="F5F3FF"/>
          </a:solidFill>
          <a:ln/>
        </p:spPr>
      </p:sp>
      <p:sp>
        <p:nvSpPr>
          <p:cNvPr id="80" name="Text 78"/>
          <p:cNvSpPr/>
          <p:nvPr/>
        </p:nvSpPr>
        <p:spPr>
          <a:xfrm>
            <a:off x="804672" y="4754880"/>
            <a:ext cx="777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Fonctionnel</a:t>
            </a:r>
            <a:endParaRPr lang="en-US" sz="750" dirty="0"/>
          </a:p>
        </p:txBody>
      </p:sp>
      <p:sp>
        <p:nvSpPr>
          <p:cNvPr id="81" name="Text 79"/>
          <p:cNvSpPr/>
          <p:nvPr/>
        </p:nvSpPr>
        <p:spPr>
          <a:xfrm>
            <a:off x="2880360" y="4507992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 :</a:t>
            </a:r>
            <a:endParaRPr lang="en-US" sz="800" dirty="0"/>
          </a:p>
        </p:txBody>
      </p:sp>
      <p:sp>
        <p:nvSpPr>
          <p:cNvPr id="82" name="Text 80"/>
          <p:cNvSpPr/>
          <p:nvPr/>
        </p:nvSpPr>
        <p:spPr>
          <a:xfrm>
            <a:off x="3401568" y="4507992"/>
            <a:ext cx="5349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Utilisation de test_df (15%) au lieu du DataFrame complet → insuffisant après dropna</a:t>
            </a:r>
            <a:endParaRPr lang="en-US" sz="800" dirty="0"/>
          </a:p>
        </p:txBody>
      </p:sp>
      <p:sp>
        <p:nvSpPr>
          <p:cNvPr id="83" name="Text 81"/>
          <p:cNvSpPr/>
          <p:nvPr/>
        </p:nvSpPr>
        <p:spPr>
          <a:xfrm>
            <a:off x="2880360" y="4727448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:</a:t>
            </a:r>
            <a:endParaRPr lang="en-US" sz="800" dirty="0"/>
          </a:p>
        </p:txBody>
      </p:sp>
      <p:sp>
        <p:nvSpPr>
          <p:cNvPr id="84" name="Text 82"/>
          <p:cNvSpPr/>
          <p:nvPr/>
        </p:nvSpPr>
        <p:spPr>
          <a:xfrm>
            <a:off x="3401568" y="4727448"/>
            <a:ext cx="5349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Utiliser df (dataset complet) pour la prédiction temps réel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21A40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68580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Synthèse complète — Tous les résultats en un coup d'œil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20116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Récapitulatif final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8869680" y="4892040"/>
            <a:ext cx="274320" cy="2286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8869680" y="489204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28600" y="868680"/>
            <a:ext cx="2194560" cy="320040"/>
          </a:xfrm>
          <a:prstGeom prst="rect">
            <a:avLst/>
          </a:prstGeom>
          <a:solidFill>
            <a:srgbClr val="121A40"/>
          </a:solidFill>
          <a:ln/>
        </p:spPr>
      </p:sp>
      <p:sp>
        <p:nvSpPr>
          <p:cNvPr id="8" name="Text 6"/>
          <p:cNvSpPr/>
          <p:nvPr/>
        </p:nvSpPr>
        <p:spPr>
          <a:xfrm>
            <a:off x="228600" y="8686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41448" y="868680"/>
            <a:ext cx="685800" cy="320040"/>
          </a:xfrm>
          <a:prstGeom prst="rect">
            <a:avLst/>
          </a:prstGeom>
          <a:solidFill>
            <a:srgbClr val="121A40"/>
          </a:solidFill>
          <a:ln/>
        </p:spPr>
      </p:sp>
      <p:sp>
        <p:nvSpPr>
          <p:cNvPr id="10" name="Text 8"/>
          <p:cNvSpPr/>
          <p:nvPr/>
        </p:nvSpPr>
        <p:spPr>
          <a:xfrm>
            <a:off x="2441448" y="868680"/>
            <a:ext cx="685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145536" y="868680"/>
            <a:ext cx="685800" cy="320040"/>
          </a:xfrm>
          <a:prstGeom prst="rect">
            <a:avLst/>
          </a:prstGeom>
          <a:solidFill>
            <a:srgbClr val="121A40"/>
          </a:solidFill>
          <a:ln/>
        </p:spPr>
      </p:sp>
      <p:sp>
        <p:nvSpPr>
          <p:cNvPr id="12" name="Text 10"/>
          <p:cNvSpPr/>
          <p:nvPr/>
        </p:nvSpPr>
        <p:spPr>
          <a:xfrm>
            <a:off x="3145536" y="868680"/>
            <a:ext cx="685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849624" y="868680"/>
            <a:ext cx="640080" cy="320040"/>
          </a:xfrm>
          <a:prstGeom prst="rect">
            <a:avLst/>
          </a:prstGeom>
          <a:solidFill>
            <a:srgbClr val="121A40"/>
          </a:solidFill>
          <a:ln/>
        </p:spPr>
      </p:sp>
      <p:sp>
        <p:nvSpPr>
          <p:cNvPr id="14" name="Text 12"/>
          <p:cNvSpPr/>
          <p:nvPr/>
        </p:nvSpPr>
        <p:spPr>
          <a:xfrm>
            <a:off x="3849624" y="8686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07992" y="868680"/>
            <a:ext cx="640080" cy="320040"/>
          </a:xfrm>
          <a:prstGeom prst="rect">
            <a:avLst/>
          </a:prstGeom>
          <a:solidFill>
            <a:srgbClr val="121A40"/>
          </a:solidFill>
          <a:ln/>
        </p:spPr>
      </p:sp>
      <p:sp>
        <p:nvSpPr>
          <p:cNvPr id="16" name="Text 14"/>
          <p:cNvSpPr/>
          <p:nvPr/>
        </p:nvSpPr>
        <p:spPr>
          <a:xfrm>
            <a:off x="4507992" y="8686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166360" y="868680"/>
            <a:ext cx="685800" cy="320040"/>
          </a:xfrm>
          <a:prstGeom prst="rect">
            <a:avLst/>
          </a:prstGeom>
          <a:solidFill>
            <a:srgbClr val="121A40"/>
          </a:solidFill>
          <a:ln/>
        </p:spPr>
      </p:sp>
      <p:sp>
        <p:nvSpPr>
          <p:cNvPr id="18" name="Text 16"/>
          <p:cNvSpPr/>
          <p:nvPr/>
        </p:nvSpPr>
        <p:spPr>
          <a:xfrm>
            <a:off x="5166360" y="868680"/>
            <a:ext cx="685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870448" y="868680"/>
            <a:ext cx="731520" cy="320040"/>
          </a:xfrm>
          <a:prstGeom prst="rect">
            <a:avLst/>
          </a:prstGeom>
          <a:solidFill>
            <a:srgbClr val="121A40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86868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DD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620256" y="868680"/>
            <a:ext cx="914400" cy="320040"/>
          </a:xfrm>
          <a:prstGeom prst="rect">
            <a:avLst/>
          </a:prstGeom>
          <a:solidFill>
            <a:srgbClr val="121A40"/>
          </a:solidFill>
          <a:ln/>
        </p:spPr>
      </p:sp>
      <p:sp>
        <p:nvSpPr>
          <p:cNvPr id="22" name="Text 20"/>
          <p:cNvSpPr/>
          <p:nvPr/>
        </p:nvSpPr>
        <p:spPr>
          <a:xfrm>
            <a:off x="6620256" y="8686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28600" y="1216152"/>
            <a:ext cx="2194560" cy="4480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Shape 22"/>
          <p:cNvSpPr/>
          <p:nvPr/>
        </p:nvSpPr>
        <p:spPr>
          <a:xfrm>
            <a:off x="228600" y="1216152"/>
            <a:ext cx="36576" cy="36484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Shape 23"/>
          <p:cNvSpPr/>
          <p:nvPr/>
        </p:nvSpPr>
        <p:spPr>
          <a:xfrm>
            <a:off x="228600" y="1216152"/>
            <a:ext cx="36576" cy="448056"/>
          </a:xfrm>
          <a:prstGeom prst="rect">
            <a:avLst/>
          </a:prstGeom>
          <a:solidFill>
            <a:srgbClr val="121A40"/>
          </a:solidFill>
          <a:ln/>
        </p:spPr>
      </p:sp>
      <p:sp>
        <p:nvSpPr>
          <p:cNvPr id="26" name="Text 24"/>
          <p:cNvSpPr/>
          <p:nvPr/>
        </p:nvSpPr>
        <p:spPr>
          <a:xfrm>
            <a:off x="274320" y="1243584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PatchTST (défaut)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441448" y="1216152"/>
            <a:ext cx="685800" cy="4480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Shape 26"/>
          <p:cNvSpPr/>
          <p:nvPr/>
        </p:nvSpPr>
        <p:spPr>
          <a:xfrm>
            <a:off x="2441448" y="1216152"/>
            <a:ext cx="36576" cy="36484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Shape 27"/>
          <p:cNvSpPr/>
          <p:nvPr/>
        </p:nvSpPr>
        <p:spPr>
          <a:xfrm>
            <a:off x="2441448" y="1216152"/>
            <a:ext cx="36576" cy="448056"/>
          </a:xfrm>
          <a:prstGeom prst="rect">
            <a:avLst/>
          </a:prstGeom>
          <a:solidFill>
            <a:srgbClr val="121A40"/>
          </a:solidFill>
          <a:ln/>
        </p:spPr>
      </p:sp>
      <p:sp>
        <p:nvSpPr>
          <p:cNvPr id="30" name="Text 28"/>
          <p:cNvSpPr/>
          <p:nvPr/>
        </p:nvSpPr>
        <p:spPr>
          <a:xfrm>
            <a:off x="2487168" y="1243584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116K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145536" y="1216152"/>
            <a:ext cx="685800" cy="4480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Shape 30"/>
          <p:cNvSpPr/>
          <p:nvPr/>
        </p:nvSpPr>
        <p:spPr>
          <a:xfrm>
            <a:off x="3145536" y="1216152"/>
            <a:ext cx="36576" cy="36484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Shape 31"/>
          <p:cNvSpPr/>
          <p:nvPr/>
        </p:nvSpPr>
        <p:spPr>
          <a:xfrm>
            <a:off x="3145536" y="1216152"/>
            <a:ext cx="36576" cy="448056"/>
          </a:xfrm>
          <a:prstGeom prst="rect">
            <a:avLst/>
          </a:prstGeom>
          <a:solidFill>
            <a:srgbClr val="121A40"/>
          </a:solidFill>
          <a:ln/>
        </p:spPr>
      </p:sp>
      <p:sp>
        <p:nvSpPr>
          <p:cNvPr id="34" name="Text 32"/>
          <p:cNvSpPr/>
          <p:nvPr/>
        </p:nvSpPr>
        <p:spPr>
          <a:xfrm>
            <a:off x="3191256" y="1243584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57.5%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849624" y="1216152"/>
            <a:ext cx="640080" cy="4480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Shape 34"/>
          <p:cNvSpPr/>
          <p:nvPr/>
        </p:nvSpPr>
        <p:spPr>
          <a:xfrm>
            <a:off x="3849624" y="1216152"/>
            <a:ext cx="36576" cy="36484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Shape 35"/>
          <p:cNvSpPr/>
          <p:nvPr/>
        </p:nvSpPr>
        <p:spPr>
          <a:xfrm>
            <a:off x="3849624" y="1216152"/>
            <a:ext cx="36576" cy="448056"/>
          </a:xfrm>
          <a:prstGeom prst="rect">
            <a:avLst/>
          </a:prstGeom>
          <a:solidFill>
            <a:srgbClr val="121A40"/>
          </a:solidFill>
          <a:ln/>
        </p:spPr>
      </p:sp>
      <p:sp>
        <p:nvSpPr>
          <p:cNvPr id="38" name="Text 36"/>
          <p:cNvSpPr/>
          <p:nvPr/>
        </p:nvSpPr>
        <p:spPr>
          <a:xfrm>
            <a:off x="3895344" y="1243584"/>
            <a:ext cx="594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0.535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507992" y="1216152"/>
            <a:ext cx="640080" cy="4480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Shape 38"/>
          <p:cNvSpPr/>
          <p:nvPr/>
        </p:nvSpPr>
        <p:spPr>
          <a:xfrm>
            <a:off x="4507992" y="1216152"/>
            <a:ext cx="36576" cy="36484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Shape 39"/>
          <p:cNvSpPr/>
          <p:nvPr/>
        </p:nvSpPr>
        <p:spPr>
          <a:xfrm>
            <a:off x="4507992" y="1216152"/>
            <a:ext cx="36576" cy="448056"/>
          </a:xfrm>
          <a:prstGeom prst="rect">
            <a:avLst/>
          </a:prstGeom>
          <a:solidFill>
            <a:srgbClr val="121A40"/>
          </a:solidFill>
          <a:ln/>
        </p:spPr>
      </p:sp>
      <p:sp>
        <p:nvSpPr>
          <p:cNvPr id="42" name="Text 40"/>
          <p:cNvSpPr/>
          <p:nvPr/>
        </p:nvSpPr>
        <p:spPr>
          <a:xfrm>
            <a:off x="4553712" y="1243584"/>
            <a:ext cx="594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0.746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5166360" y="1216152"/>
            <a:ext cx="685800" cy="4480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4" name="Shape 42"/>
          <p:cNvSpPr/>
          <p:nvPr/>
        </p:nvSpPr>
        <p:spPr>
          <a:xfrm>
            <a:off x="5166360" y="1216152"/>
            <a:ext cx="36576" cy="36484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5" name="Shape 43"/>
          <p:cNvSpPr/>
          <p:nvPr/>
        </p:nvSpPr>
        <p:spPr>
          <a:xfrm>
            <a:off x="5166360" y="1216152"/>
            <a:ext cx="36576" cy="448056"/>
          </a:xfrm>
          <a:prstGeom prst="rect">
            <a:avLst/>
          </a:prstGeom>
          <a:solidFill>
            <a:srgbClr val="121A40"/>
          </a:solidFill>
          <a:ln/>
        </p:spPr>
      </p:sp>
      <p:sp>
        <p:nvSpPr>
          <p:cNvPr id="46" name="Text 44"/>
          <p:cNvSpPr/>
          <p:nvPr/>
        </p:nvSpPr>
        <p:spPr>
          <a:xfrm>
            <a:off x="5212080" y="1243584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31.6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870448" y="1216152"/>
            <a:ext cx="731520" cy="4480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8" name="Shape 46"/>
          <p:cNvSpPr/>
          <p:nvPr/>
        </p:nvSpPr>
        <p:spPr>
          <a:xfrm>
            <a:off x="5870448" y="1216152"/>
            <a:ext cx="36576" cy="36484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9" name="Shape 47"/>
          <p:cNvSpPr/>
          <p:nvPr/>
        </p:nvSpPr>
        <p:spPr>
          <a:xfrm>
            <a:off x="5870448" y="1216152"/>
            <a:ext cx="36576" cy="448056"/>
          </a:xfrm>
          <a:prstGeom prst="rect">
            <a:avLst/>
          </a:prstGeom>
          <a:solidFill>
            <a:srgbClr val="121A40"/>
          </a:solidFill>
          <a:ln/>
        </p:spPr>
      </p:sp>
      <p:sp>
        <p:nvSpPr>
          <p:cNvPr id="50" name="Text 48"/>
          <p:cNvSpPr/>
          <p:nvPr/>
        </p:nvSpPr>
        <p:spPr>
          <a:xfrm>
            <a:off x="5916168" y="1243584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-10.5%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620256" y="1216152"/>
            <a:ext cx="914400" cy="4480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2" name="Shape 50"/>
          <p:cNvSpPr/>
          <p:nvPr/>
        </p:nvSpPr>
        <p:spPr>
          <a:xfrm>
            <a:off x="6620256" y="1216152"/>
            <a:ext cx="36576" cy="36484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3" name="Shape 51"/>
          <p:cNvSpPr/>
          <p:nvPr/>
        </p:nvSpPr>
        <p:spPr>
          <a:xfrm>
            <a:off x="6620256" y="1216152"/>
            <a:ext cx="36576" cy="448056"/>
          </a:xfrm>
          <a:prstGeom prst="rect">
            <a:avLst/>
          </a:prstGeom>
          <a:solidFill>
            <a:srgbClr val="121A40"/>
          </a:solidFill>
          <a:ln/>
        </p:spPr>
      </p:sp>
      <p:sp>
        <p:nvSpPr>
          <p:cNvPr id="54" name="Text 52"/>
          <p:cNvSpPr/>
          <p:nvPr/>
        </p:nvSpPr>
        <p:spPr>
          <a:xfrm>
            <a:off x="6665976" y="1243584"/>
            <a:ext cx="868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228600" y="1691640"/>
            <a:ext cx="2194560" cy="44805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56" name="Shape 54"/>
          <p:cNvSpPr/>
          <p:nvPr/>
        </p:nvSpPr>
        <p:spPr>
          <a:xfrm>
            <a:off x="228600" y="1691640"/>
            <a:ext cx="36576" cy="448056"/>
          </a:xfrm>
          <a:prstGeom prst="rect">
            <a:avLst/>
          </a:prstGeom>
          <a:solidFill>
            <a:srgbClr val="121A40"/>
          </a:solidFill>
          <a:ln/>
        </p:spPr>
      </p:sp>
      <p:sp>
        <p:nvSpPr>
          <p:cNvPr id="57" name="Text 55"/>
          <p:cNvSpPr/>
          <p:nvPr/>
        </p:nvSpPr>
        <p:spPr>
          <a:xfrm>
            <a:off x="274320" y="1719072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Attention (défaut)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2441448" y="1691640"/>
            <a:ext cx="685800" cy="44805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59" name="Shape 57"/>
          <p:cNvSpPr/>
          <p:nvPr/>
        </p:nvSpPr>
        <p:spPr>
          <a:xfrm>
            <a:off x="2441448" y="1691640"/>
            <a:ext cx="36576" cy="448056"/>
          </a:xfrm>
          <a:prstGeom prst="rect">
            <a:avLst/>
          </a:prstGeom>
          <a:solidFill>
            <a:srgbClr val="121A40"/>
          </a:solidFill>
          <a:ln/>
        </p:spPr>
      </p:sp>
      <p:sp>
        <p:nvSpPr>
          <p:cNvPr id="60" name="Text 58"/>
          <p:cNvSpPr/>
          <p:nvPr/>
        </p:nvSpPr>
        <p:spPr>
          <a:xfrm>
            <a:off x="2487168" y="1719072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1.35M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3145536" y="1691640"/>
            <a:ext cx="685800" cy="44805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62" name="Shape 60"/>
          <p:cNvSpPr/>
          <p:nvPr/>
        </p:nvSpPr>
        <p:spPr>
          <a:xfrm>
            <a:off x="3145536" y="1691640"/>
            <a:ext cx="36576" cy="448056"/>
          </a:xfrm>
          <a:prstGeom prst="rect">
            <a:avLst/>
          </a:prstGeom>
          <a:solidFill>
            <a:srgbClr val="121A40"/>
          </a:solidFill>
          <a:ln/>
        </p:spPr>
      </p:sp>
      <p:sp>
        <p:nvSpPr>
          <p:cNvPr id="63" name="Text 61"/>
          <p:cNvSpPr/>
          <p:nvPr/>
        </p:nvSpPr>
        <p:spPr>
          <a:xfrm>
            <a:off x="3191256" y="1719072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61.2%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3849624" y="1691640"/>
            <a:ext cx="640080" cy="44805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65" name="Shape 63"/>
          <p:cNvSpPr/>
          <p:nvPr/>
        </p:nvSpPr>
        <p:spPr>
          <a:xfrm>
            <a:off x="3849624" y="1691640"/>
            <a:ext cx="36576" cy="448056"/>
          </a:xfrm>
          <a:prstGeom prst="rect">
            <a:avLst/>
          </a:prstGeom>
          <a:solidFill>
            <a:srgbClr val="121A40"/>
          </a:solidFill>
          <a:ln/>
        </p:spPr>
      </p:sp>
      <p:sp>
        <p:nvSpPr>
          <p:cNvPr id="66" name="Text 64"/>
          <p:cNvSpPr/>
          <p:nvPr/>
        </p:nvSpPr>
        <p:spPr>
          <a:xfrm>
            <a:off x="3895344" y="1719072"/>
            <a:ext cx="594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0.604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4507992" y="1691640"/>
            <a:ext cx="640080" cy="44805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68" name="Shape 66"/>
          <p:cNvSpPr/>
          <p:nvPr/>
        </p:nvSpPr>
        <p:spPr>
          <a:xfrm>
            <a:off x="4507992" y="1691640"/>
            <a:ext cx="36576" cy="448056"/>
          </a:xfrm>
          <a:prstGeom prst="rect">
            <a:avLst/>
          </a:prstGeom>
          <a:solidFill>
            <a:srgbClr val="121A40"/>
          </a:solidFill>
          <a:ln/>
        </p:spPr>
      </p:sp>
      <p:sp>
        <p:nvSpPr>
          <p:cNvPr id="69" name="Text 67"/>
          <p:cNvSpPr/>
          <p:nvPr/>
        </p:nvSpPr>
        <p:spPr>
          <a:xfrm>
            <a:off x="4553712" y="1719072"/>
            <a:ext cx="594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0.780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5166360" y="1691640"/>
            <a:ext cx="685800" cy="44805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71" name="Shape 69"/>
          <p:cNvSpPr/>
          <p:nvPr/>
        </p:nvSpPr>
        <p:spPr>
          <a:xfrm>
            <a:off x="5166360" y="1691640"/>
            <a:ext cx="36576" cy="448056"/>
          </a:xfrm>
          <a:prstGeom prst="rect">
            <a:avLst/>
          </a:prstGeom>
          <a:solidFill>
            <a:srgbClr val="121A40"/>
          </a:solidFill>
          <a:ln/>
        </p:spPr>
      </p:sp>
      <p:sp>
        <p:nvSpPr>
          <p:cNvPr id="72" name="Text 70"/>
          <p:cNvSpPr/>
          <p:nvPr/>
        </p:nvSpPr>
        <p:spPr>
          <a:xfrm>
            <a:off x="5212080" y="1719072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43.0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5870448" y="1691640"/>
            <a:ext cx="731520" cy="44805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74" name="Shape 72"/>
          <p:cNvSpPr/>
          <p:nvPr/>
        </p:nvSpPr>
        <p:spPr>
          <a:xfrm>
            <a:off x="5870448" y="1691640"/>
            <a:ext cx="36576" cy="448056"/>
          </a:xfrm>
          <a:prstGeom prst="rect">
            <a:avLst/>
          </a:prstGeom>
          <a:solidFill>
            <a:srgbClr val="121A40"/>
          </a:solidFill>
          <a:ln/>
        </p:spPr>
      </p:sp>
      <p:sp>
        <p:nvSpPr>
          <p:cNvPr id="75" name="Text 73"/>
          <p:cNvSpPr/>
          <p:nvPr/>
        </p:nvSpPr>
        <p:spPr>
          <a:xfrm>
            <a:off x="5916168" y="1719072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-8.6%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6620256" y="1691640"/>
            <a:ext cx="914400" cy="44805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77" name="Shape 75"/>
          <p:cNvSpPr/>
          <p:nvPr/>
        </p:nvSpPr>
        <p:spPr>
          <a:xfrm>
            <a:off x="6620256" y="1691640"/>
            <a:ext cx="36576" cy="448056"/>
          </a:xfrm>
          <a:prstGeom prst="rect">
            <a:avLst/>
          </a:prstGeom>
          <a:solidFill>
            <a:srgbClr val="121A40"/>
          </a:solidFill>
          <a:ln/>
        </p:spPr>
      </p:sp>
      <p:sp>
        <p:nvSpPr>
          <p:cNvPr id="78" name="Text 76"/>
          <p:cNvSpPr/>
          <p:nvPr/>
        </p:nvSpPr>
        <p:spPr>
          <a:xfrm>
            <a:off x="6665976" y="1719072"/>
            <a:ext cx="868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850" dirty="0"/>
          </a:p>
        </p:txBody>
      </p:sp>
      <p:sp>
        <p:nvSpPr>
          <p:cNvPr id="79" name="Shape 77"/>
          <p:cNvSpPr/>
          <p:nvPr/>
        </p:nvSpPr>
        <p:spPr>
          <a:xfrm>
            <a:off x="228600" y="2167128"/>
            <a:ext cx="2194560" cy="4480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0" name="Shape 78"/>
          <p:cNvSpPr/>
          <p:nvPr/>
        </p:nvSpPr>
        <p:spPr>
          <a:xfrm>
            <a:off x="228600" y="2167128"/>
            <a:ext cx="36576" cy="448056"/>
          </a:xfrm>
          <a:prstGeom prst="rect">
            <a:avLst/>
          </a:prstGeom>
          <a:solidFill>
            <a:srgbClr val="121A40"/>
          </a:solidFill>
          <a:ln/>
        </p:spPr>
      </p:sp>
      <p:sp>
        <p:nvSpPr>
          <p:cNvPr id="81" name="Text 79"/>
          <p:cNvSpPr/>
          <p:nvPr/>
        </p:nvSpPr>
        <p:spPr>
          <a:xfrm>
            <a:off x="274320" y="219456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Transformer (défaut)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2441448" y="2167128"/>
            <a:ext cx="685800" cy="4480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3" name="Shape 81"/>
          <p:cNvSpPr/>
          <p:nvPr/>
        </p:nvSpPr>
        <p:spPr>
          <a:xfrm>
            <a:off x="2441448" y="2167128"/>
            <a:ext cx="36576" cy="448056"/>
          </a:xfrm>
          <a:prstGeom prst="rect">
            <a:avLst/>
          </a:prstGeom>
          <a:solidFill>
            <a:srgbClr val="121A40"/>
          </a:solidFill>
          <a:ln/>
        </p:spPr>
      </p:sp>
      <p:sp>
        <p:nvSpPr>
          <p:cNvPr id="84" name="Text 82"/>
          <p:cNvSpPr/>
          <p:nvPr/>
        </p:nvSpPr>
        <p:spPr>
          <a:xfrm>
            <a:off x="2487168" y="2194560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195K</a:t>
            </a:r>
            <a:endParaRPr lang="en-US" sz="900" dirty="0"/>
          </a:p>
        </p:txBody>
      </p:sp>
      <p:sp>
        <p:nvSpPr>
          <p:cNvPr id="85" name="Shape 83"/>
          <p:cNvSpPr/>
          <p:nvPr/>
        </p:nvSpPr>
        <p:spPr>
          <a:xfrm>
            <a:off x="3145536" y="2167128"/>
            <a:ext cx="685800" cy="4480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6" name="Shape 84"/>
          <p:cNvSpPr/>
          <p:nvPr/>
        </p:nvSpPr>
        <p:spPr>
          <a:xfrm>
            <a:off x="3145536" y="2167128"/>
            <a:ext cx="36576" cy="448056"/>
          </a:xfrm>
          <a:prstGeom prst="rect">
            <a:avLst/>
          </a:prstGeom>
          <a:solidFill>
            <a:srgbClr val="121A40"/>
          </a:solidFill>
          <a:ln/>
        </p:spPr>
      </p:sp>
      <p:sp>
        <p:nvSpPr>
          <p:cNvPr id="87" name="Text 85"/>
          <p:cNvSpPr/>
          <p:nvPr/>
        </p:nvSpPr>
        <p:spPr>
          <a:xfrm>
            <a:off x="3191256" y="2194560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60.5%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3849624" y="2167128"/>
            <a:ext cx="640080" cy="4480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9" name="Shape 87"/>
          <p:cNvSpPr/>
          <p:nvPr/>
        </p:nvSpPr>
        <p:spPr>
          <a:xfrm>
            <a:off x="3849624" y="2167128"/>
            <a:ext cx="36576" cy="448056"/>
          </a:xfrm>
          <a:prstGeom prst="rect">
            <a:avLst/>
          </a:prstGeom>
          <a:solidFill>
            <a:srgbClr val="121A40"/>
          </a:solidFill>
          <a:ln/>
        </p:spPr>
      </p:sp>
      <p:sp>
        <p:nvSpPr>
          <p:cNvPr id="90" name="Text 88"/>
          <p:cNvSpPr/>
          <p:nvPr/>
        </p:nvSpPr>
        <p:spPr>
          <a:xfrm>
            <a:off x="3895344" y="2194560"/>
            <a:ext cx="594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0.593</a:t>
            </a:r>
            <a:endParaRPr lang="en-US" sz="900" dirty="0"/>
          </a:p>
        </p:txBody>
      </p:sp>
      <p:sp>
        <p:nvSpPr>
          <p:cNvPr id="91" name="Shape 89"/>
          <p:cNvSpPr/>
          <p:nvPr/>
        </p:nvSpPr>
        <p:spPr>
          <a:xfrm>
            <a:off x="4507992" y="2167128"/>
            <a:ext cx="640080" cy="4480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2" name="Shape 90"/>
          <p:cNvSpPr/>
          <p:nvPr/>
        </p:nvSpPr>
        <p:spPr>
          <a:xfrm>
            <a:off x="4507992" y="2167128"/>
            <a:ext cx="36576" cy="448056"/>
          </a:xfrm>
          <a:prstGeom prst="rect">
            <a:avLst/>
          </a:prstGeom>
          <a:solidFill>
            <a:srgbClr val="121A40"/>
          </a:solidFill>
          <a:ln/>
        </p:spPr>
      </p:sp>
      <p:sp>
        <p:nvSpPr>
          <p:cNvPr id="93" name="Text 91"/>
          <p:cNvSpPr/>
          <p:nvPr/>
        </p:nvSpPr>
        <p:spPr>
          <a:xfrm>
            <a:off x="4553712" y="2194560"/>
            <a:ext cx="594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0.775</a:t>
            </a: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5166360" y="2167128"/>
            <a:ext cx="685800" cy="4480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5" name="Shape 93"/>
          <p:cNvSpPr/>
          <p:nvPr/>
        </p:nvSpPr>
        <p:spPr>
          <a:xfrm>
            <a:off x="5166360" y="2167128"/>
            <a:ext cx="36576" cy="448056"/>
          </a:xfrm>
          <a:prstGeom prst="rect">
            <a:avLst/>
          </a:prstGeom>
          <a:solidFill>
            <a:srgbClr val="121A40"/>
          </a:solidFill>
          <a:ln/>
        </p:spPr>
      </p:sp>
      <p:sp>
        <p:nvSpPr>
          <p:cNvPr id="96" name="Text 94"/>
          <p:cNvSpPr/>
          <p:nvPr/>
        </p:nvSpPr>
        <p:spPr>
          <a:xfrm>
            <a:off x="5212080" y="2194560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41.8</a:t>
            </a:r>
            <a:endParaRPr lang="en-US" sz="900" dirty="0"/>
          </a:p>
        </p:txBody>
      </p:sp>
      <p:sp>
        <p:nvSpPr>
          <p:cNvPr id="97" name="Shape 95"/>
          <p:cNvSpPr/>
          <p:nvPr/>
        </p:nvSpPr>
        <p:spPr>
          <a:xfrm>
            <a:off x="5870448" y="2167128"/>
            <a:ext cx="731520" cy="4480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8" name="Shape 96"/>
          <p:cNvSpPr/>
          <p:nvPr/>
        </p:nvSpPr>
        <p:spPr>
          <a:xfrm>
            <a:off x="5870448" y="2167128"/>
            <a:ext cx="36576" cy="448056"/>
          </a:xfrm>
          <a:prstGeom prst="rect">
            <a:avLst/>
          </a:prstGeom>
          <a:solidFill>
            <a:srgbClr val="121A40"/>
          </a:solidFill>
          <a:ln/>
        </p:spPr>
      </p:sp>
      <p:sp>
        <p:nvSpPr>
          <p:cNvPr id="99" name="Text 97"/>
          <p:cNvSpPr/>
          <p:nvPr/>
        </p:nvSpPr>
        <p:spPr>
          <a:xfrm>
            <a:off x="5916168" y="2194560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-6.6%</a:t>
            </a:r>
            <a:endParaRPr lang="en-US" sz="900" dirty="0"/>
          </a:p>
        </p:txBody>
      </p:sp>
      <p:sp>
        <p:nvSpPr>
          <p:cNvPr id="100" name="Shape 98"/>
          <p:cNvSpPr/>
          <p:nvPr/>
        </p:nvSpPr>
        <p:spPr>
          <a:xfrm>
            <a:off x="6620256" y="2167128"/>
            <a:ext cx="914400" cy="4480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1" name="Shape 99"/>
          <p:cNvSpPr/>
          <p:nvPr/>
        </p:nvSpPr>
        <p:spPr>
          <a:xfrm>
            <a:off x="6620256" y="2167128"/>
            <a:ext cx="36576" cy="448056"/>
          </a:xfrm>
          <a:prstGeom prst="rect">
            <a:avLst/>
          </a:prstGeom>
          <a:solidFill>
            <a:srgbClr val="121A40"/>
          </a:solidFill>
          <a:ln/>
        </p:spPr>
      </p:sp>
      <p:sp>
        <p:nvSpPr>
          <p:cNvPr id="102" name="Text 100"/>
          <p:cNvSpPr/>
          <p:nvPr/>
        </p:nvSpPr>
        <p:spPr>
          <a:xfrm>
            <a:off x="6665976" y="2194560"/>
            <a:ext cx="868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850" dirty="0"/>
          </a:p>
        </p:txBody>
      </p:sp>
      <p:sp>
        <p:nvSpPr>
          <p:cNvPr id="103" name="Shape 101"/>
          <p:cNvSpPr/>
          <p:nvPr/>
        </p:nvSpPr>
        <p:spPr>
          <a:xfrm>
            <a:off x="228600" y="2642616"/>
            <a:ext cx="2194560" cy="448056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104" name="Shape 102"/>
          <p:cNvSpPr/>
          <p:nvPr/>
        </p:nvSpPr>
        <p:spPr>
          <a:xfrm>
            <a:off x="228600" y="2642616"/>
            <a:ext cx="36576" cy="448056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05" name="Text 103"/>
          <p:cNvSpPr/>
          <p:nvPr/>
        </p:nvSpPr>
        <p:spPr>
          <a:xfrm>
            <a:off x="274320" y="2670048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TFT Lite</a:t>
            </a:r>
            <a:endParaRPr lang="en-US" sz="900" dirty="0"/>
          </a:p>
        </p:txBody>
      </p:sp>
      <p:sp>
        <p:nvSpPr>
          <p:cNvPr id="106" name="Shape 104"/>
          <p:cNvSpPr/>
          <p:nvPr/>
        </p:nvSpPr>
        <p:spPr>
          <a:xfrm>
            <a:off x="2441448" y="2642616"/>
            <a:ext cx="685800" cy="448056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107" name="Shape 105"/>
          <p:cNvSpPr/>
          <p:nvPr/>
        </p:nvSpPr>
        <p:spPr>
          <a:xfrm>
            <a:off x="2441448" y="2642616"/>
            <a:ext cx="36576" cy="448056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08" name="Text 106"/>
          <p:cNvSpPr/>
          <p:nvPr/>
        </p:nvSpPr>
        <p:spPr>
          <a:xfrm>
            <a:off x="2487168" y="2670048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152K</a:t>
            </a:r>
            <a:endParaRPr lang="en-US" sz="900" dirty="0"/>
          </a:p>
        </p:txBody>
      </p:sp>
      <p:sp>
        <p:nvSpPr>
          <p:cNvPr id="109" name="Shape 107"/>
          <p:cNvSpPr/>
          <p:nvPr/>
        </p:nvSpPr>
        <p:spPr>
          <a:xfrm>
            <a:off x="3145536" y="2642616"/>
            <a:ext cx="685800" cy="448056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110" name="Shape 108"/>
          <p:cNvSpPr/>
          <p:nvPr/>
        </p:nvSpPr>
        <p:spPr>
          <a:xfrm>
            <a:off x="3145536" y="2642616"/>
            <a:ext cx="36576" cy="448056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11" name="Text 109"/>
          <p:cNvSpPr/>
          <p:nvPr/>
        </p:nvSpPr>
        <p:spPr>
          <a:xfrm>
            <a:off x="3191256" y="2670048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44.8%</a:t>
            </a:r>
            <a:endParaRPr lang="en-US" sz="900" dirty="0"/>
          </a:p>
        </p:txBody>
      </p:sp>
      <p:sp>
        <p:nvSpPr>
          <p:cNvPr id="112" name="Shape 110"/>
          <p:cNvSpPr/>
          <p:nvPr/>
        </p:nvSpPr>
        <p:spPr>
          <a:xfrm>
            <a:off x="3849624" y="2642616"/>
            <a:ext cx="640080" cy="448056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113" name="Shape 111"/>
          <p:cNvSpPr/>
          <p:nvPr/>
        </p:nvSpPr>
        <p:spPr>
          <a:xfrm>
            <a:off x="3849624" y="2642616"/>
            <a:ext cx="36576" cy="448056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14" name="Text 112"/>
          <p:cNvSpPr/>
          <p:nvPr/>
        </p:nvSpPr>
        <p:spPr>
          <a:xfrm>
            <a:off x="3895344" y="2670048"/>
            <a:ext cx="594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0.401</a:t>
            </a:r>
            <a:endParaRPr lang="en-US" sz="900" dirty="0"/>
          </a:p>
        </p:txBody>
      </p:sp>
      <p:sp>
        <p:nvSpPr>
          <p:cNvPr id="115" name="Shape 113"/>
          <p:cNvSpPr/>
          <p:nvPr/>
        </p:nvSpPr>
        <p:spPr>
          <a:xfrm>
            <a:off x="4507992" y="2642616"/>
            <a:ext cx="640080" cy="448056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116" name="Shape 114"/>
          <p:cNvSpPr/>
          <p:nvPr/>
        </p:nvSpPr>
        <p:spPr>
          <a:xfrm>
            <a:off x="4507992" y="2642616"/>
            <a:ext cx="36576" cy="448056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17" name="Text 115"/>
          <p:cNvSpPr/>
          <p:nvPr/>
        </p:nvSpPr>
        <p:spPr>
          <a:xfrm>
            <a:off x="4553712" y="2670048"/>
            <a:ext cx="594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0.620</a:t>
            </a:r>
            <a:endParaRPr lang="en-US" sz="900" dirty="0"/>
          </a:p>
        </p:txBody>
      </p:sp>
      <p:sp>
        <p:nvSpPr>
          <p:cNvPr id="118" name="Shape 116"/>
          <p:cNvSpPr/>
          <p:nvPr/>
        </p:nvSpPr>
        <p:spPr>
          <a:xfrm>
            <a:off x="5166360" y="2642616"/>
            <a:ext cx="685800" cy="448056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119" name="Shape 117"/>
          <p:cNvSpPr/>
          <p:nvPr/>
        </p:nvSpPr>
        <p:spPr>
          <a:xfrm>
            <a:off x="5166360" y="2642616"/>
            <a:ext cx="36576" cy="448056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20" name="Text 118"/>
          <p:cNvSpPr/>
          <p:nvPr/>
        </p:nvSpPr>
        <p:spPr>
          <a:xfrm>
            <a:off x="5212080" y="2670048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24.3</a:t>
            </a:r>
            <a:endParaRPr lang="en-US" sz="900" dirty="0"/>
          </a:p>
        </p:txBody>
      </p:sp>
      <p:sp>
        <p:nvSpPr>
          <p:cNvPr id="121" name="Shape 119"/>
          <p:cNvSpPr/>
          <p:nvPr/>
        </p:nvSpPr>
        <p:spPr>
          <a:xfrm>
            <a:off x="5870448" y="2642616"/>
            <a:ext cx="731520" cy="448056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122" name="Shape 120"/>
          <p:cNvSpPr/>
          <p:nvPr/>
        </p:nvSpPr>
        <p:spPr>
          <a:xfrm>
            <a:off x="5870448" y="2642616"/>
            <a:ext cx="36576" cy="448056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23" name="Text 121"/>
          <p:cNvSpPr/>
          <p:nvPr/>
        </p:nvSpPr>
        <p:spPr>
          <a:xfrm>
            <a:off x="5916168" y="2670048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-10.4%</a:t>
            </a:r>
            <a:endParaRPr lang="en-US" sz="900" dirty="0"/>
          </a:p>
        </p:txBody>
      </p:sp>
      <p:sp>
        <p:nvSpPr>
          <p:cNvPr id="124" name="Shape 122"/>
          <p:cNvSpPr/>
          <p:nvPr/>
        </p:nvSpPr>
        <p:spPr>
          <a:xfrm>
            <a:off x="6620256" y="2642616"/>
            <a:ext cx="914400" cy="448056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125" name="Shape 123"/>
          <p:cNvSpPr/>
          <p:nvPr/>
        </p:nvSpPr>
        <p:spPr>
          <a:xfrm>
            <a:off x="6620256" y="2642616"/>
            <a:ext cx="36576" cy="448056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26" name="Text 124"/>
          <p:cNvSpPr/>
          <p:nvPr/>
        </p:nvSpPr>
        <p:spPr>
          <a:xfrm>
            <a:off x="6665976" y="2670048"/>
            <a:ext cx="868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9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Exclu</a:t>
            </a:r>
            <a:endParaRPr lang="en-US" sz="850" dirty="0"/>
          </a:p>
        </p:txBody>
      </p:sp>
      <p:sp>
        <p:nvSpPr>
          <p:cNvPr id="127" name="Shape 125"/>
          <p:cNvSpPr/>
          <p:nvPr/>
        </p:nvSpPr>
        <p:spPr>
          <a:xfrm>
            <a:off x="228600" y="3118104"/>
            <a:ext cx="2194560" cy="448056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128" name="Shape 126"/>
          <p:cNvSpPr/>
          <p:nvPr/>
        </p:nvSpPr>
        <p:spPr>
          <a:xfrm>
            <a:off x="228600" y="3118104"/>
            <a:ext cx="36576" cy="44805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29" name="Text 127"/>
          <p:cNvSpPr/>
          <p:nvPr/>
        </p:nvSpPr>
        <p:spPr>
          <a:xfrm>
            <a:off x="274320" y="3145536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PatchTST (Optuna)</a:t>
            </a:r>
            <a:endParaRPr lang="en-US" sz="900" dirty="0"/>
          </a:p>
        </p:txBody>
      </p:sp>
      <p:sp>
        <p:nvSpPr>
          <p:cNvPr id="130" name="Shape 128"/>
          <p:cNvSpPr/>
          <p:nvPr/>
        </p:nvSpPr>
        <p:spPr>
          <a:xfrm>
            <a:off x="2441448" y="3118104"/>
            <a:ext cx="685800" cy="448056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131" name="Shape 129"/>
          <p:cNvSpPr/>
          <p:nvPr/>
        </p:nvSpPr>
        <p:spPr>
          <a:xfrm>
            <a:off x="2441448" y="3118104"/>
            <a:ext cx="36576" cy="44805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32" name="Text 130"/>
          <p:cNvSpPr/>
          <p:nvPr/>
        </p:nvSpPr>
        <p:spPr>
          <a:xfrm>
            <a:off x="2487168" y="3145536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116K</a:t>
            </a:r>
            <a:endParaRPr lang="en-US" sz="900" dirty="0"/>
          </a:p>
        </p:txBody>
      </p:sp>
      <p:sp>
        <p:nvSpPr>
          <p:cNvPr id="133" name="Shape 131"/>
          <p:cNvSpPr/>
          <p:nvPr/>
        </p:nvSpPr>
        <p:spPr>
          <a:xfrm>
            <a:off x="3145536" y="3118104"/>
            <a:ext cx="685800" cy="448056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134" name="Shape 132"/>
          <p:cNvSpPr/>
          <p:nvPr/>
        </p:nvSpPr>
        <p:spPr>
          <a:xfrm>
            <a:off x="3145536" y="3118104"/>
            <a:ext cx="36576" cy="44805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35" name="Text 133"/>
          <p:cNvSpPr/>
          <p:nvPr/>
        </p:nvSpPr>
        <p:spPr>
          <a:xfrm>
            <a:off x="3191256" y="3145536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60.0%</a:t>
            </a:r>
            <a:endParaRPr lang="en-US" sz="900" dirty="0"/>
          </a:p>
        </p:txBody>
      </p:sp>
      <p:sp>
        <p:nvSpPr>
          <p:cNvPr id="136" name="Shape 134"/>
          <p:cNvSpPr/>
          <p:nvPr/>
        </p:nvSpPr>
        <p:spPr>
          <a:xfrm>
            <a:off x="3849624" y="3118104"/>
            <a:ext cx="640080" cy="448056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137" name="Shape 135"/>
          <p:cNvSpPr/>
          <p:nvPr/>
        </p:nvSpPr>
        <p:spPr>
          <a:xfrm>
            <a:off x="3849624" y="3118104"/>
            <a:ext cx="36576" cy="44805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38" name="Text 136"/>
          <p:cNvSpPr/>
          <p:nvPr/>
        </p:nvSpPr>
        <p:spPr>
          <a:xfrm>
            <a:off x="3895344" y="3145536"/>
            <a:ext cx="594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0.568</a:t>
            </a:r>
            <a:endParaRPr lang="en-US" sz="900" dirty="0"/>
          </a:p>
        </p:txBody>
      </p:sp>
      <p:sp>
        <p:nvSpPr>
          <p:cNvPr id="139" name="Shape 137"/>
          <p:cNvSpPr/>
          <p:nvPr/>
        </p:nvSpPr>
        <p:spPr>
          <a:xfrm>
            <a:off x="4507992" y="3118104"/>
            <a:ext cx="640080" cy="448056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140" name="Shape 138"/>
          <p:cNvSpPr/>
          <p:nvPr/>
        </p:nvSpPr>
        <p:spPr>
          <a:xfrm>
            <a:off x="4507992" y="3118104"/>
            <a:ext cx="36576" cy="44805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41" name="Text 139"/>
          <p:cNvSpPr/>
          <p:nvPr/>
        </p:nvSpPr>
        <p:spPr>
          <a:xfrm>
            <a:off x="4553712" y="3145536"/>
            <a:ext cx="594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0.747</a:t>
            </a:r>
            <a:endParaRPr lang="en-US" sz="900" dirty="0"/>
          </a:p>
        </p:txBody>
      </p:sp>
      <p:sp>
        <p:nvSpPr>
          <p:cNvPr id="142" name="Shape 140"/>
          <p:cNvSpPr/>
          <p:nvPr/>
        </p:nvSpPr>
        <p:spPr>
          <a:xfrm>
            <a:off x="5166360" y="3118104"/>
            <a:ext cx="685800" cy="448056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143" name="Shape 141"/>
          <p:cNvSpPr/>
          <p:nvPr/>
        </p:nvSpPr>
        <p:spPr>
          <a:xfrm>
            <a:off x="5166360" y="3118104"/>
            <a:ext cx="36576" cy="44805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44" name="Text 142"/>
          <p:cNvSpPr/>
          <p:nvPr/>
        </p:nvSpPr>
        <p:spPr>
          <a:xfrm>
            <a:off x="5212080" y="3145536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34.6</a:t>
            </a:r>
            <a:endParaRPr lang="en-US" sz="900" dirty="0"/>
          </a:p>
        </p:txBody>
      </p:sp>
      <p:sp>
        <p:nvSpPr>
          <p:cNvPr id="145" name="Shape 143"/>
          <p:cNvSpPr/>
          <p:nvPr/>
        </p:nvSpPr>
        <p:spPr>
          <a:xfrm>
            <a:off x="5870448" y="3118104"/>
            <a:ext cx="731520" cy="448056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146" name="Shape 144"/>
          <p:cNvSpPr/>
          <p:nvPr/>
        </p:nvSpPr>
        <p:spPr>
          <a:xfrm>
            <a:off x="5870448" y="3118104"/>
            <a:ext cx="36576" cy="44805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47" name="Text 145"/>
          <p:cNvSpPr/>
          <p:nvPr/>
        </p:nvSpPr>
        <p:spPr>
          <a:xfrm>
            <a:off x="5916168" y="3145536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-n.d.</a:t>
            </a:r>
            <a:endParaRPr lang="en-US" sz="900" dirty="0"/>
          </a:p>
        </p:txBody>
      </p:sp>
      <p:sp>
        <p:nvSpPr>
          <p:cNvPr id="148" name="Shape 146"/>
          <p:cNvSpPr/>
          <p:nvPr/>
        </p:nvSpPr>
        <p:spPr>
          <a:xfrm>
            <a:off x="6620256" y="3118104"/>
            <a:ext cx="914400" cy="448056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149" name="Shape 147"/>
          <p:cNvSpPr/>
          <p:nvPr/>
        </p:nvSpPr>
        <p:spPr>
          <a:xfrm>
            <a:off x="6620256" y="3118104"/>
            <a:ext cx="36576" cy="44805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50" name="Text 148"/>
          <p:cNvSpPr/>
          <p:nvPr/>
        </p:nvSpPr>
        <p:spPr>
          <a:xfrm>
            <a:off x="6665976" y="3145536"/>
            <a:ext cx="868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_tuned.pt</a:t>
            </a:r>
            <a:endParaRPr lang="en-US" sz="850" dirty="0"/>
          </a:p>
        </p:txBody>
      </p:sp>
      <p:sp>
        <p:nvSpPr>
          <p:cNvPr id="151" name="Shape 149"/>
          <p:cNvSpPr/>
          <p:nvPr/>
        </p:nvSpPr>
        <p:spPr>
          <a:xfrm>
            <a:off x="228600" y="3593592"/>
            <a:ext cx="2194560" cy="448056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152" name="Shape 150"/>
          <p:cNvSpPr/>
          <p:nvPr/>
        </p:nvSpPr>
        <p:spPr>
          <a:xfrm>
            <a:off x="228600" y="3593592"/>
            <a:ext cx="36576" cy="44805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53" name="Text 151"/>
          <p:cNvSpPr/>
          <p:nvPr/>
        </p:nvSpPr>
        <p:spPr>
          <a:xfrm>
            <a:off x="274320" y="3621024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Attn (Optuna)</a:t>
            </a:r>
            <a:endParaRPr lang="en-US" sz="900" dirty="0"/>
          </a:p>
        </p:txBody>
      </p:sp>
      <p:sp>
        <p:nvSpPr>
          <p:cNvPr id="154" name="Shape 152"/>
          <p:cNvSpPr/>
          <p:nvPr/>
        </p:nvSpPr>
        <p:spPr>
          <a:xfrm>
            <a:off x="2441448" y="3593592"/>
            <a:ext cx="685800" cy="448056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155" name="Shape 153"/>
          <p:cNvSpPr/>
          <p:nvPr/>
        </p:nvSpPr>
        <p:spPr>
          <a:xfrm>
            <a:off x="2441448" y="3593592"/>
            <a:ext cx="36576" cy="44805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56" name="Text 154"/>
          <p:cNvSpPr/>
          <p:nvPr/>
        </p:nvSpPr>
        <p:spPr>
          <a:xfrm>
            <a:off x="2487168" y="3621024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1.35M</a:t>
            </a:r>
            <a:endParaRPr lang="en-US" sz="900" dirty="0"/>
          </a:p>
        </p:txBody>
      </p:sp>
      <p:sp>
        <p:nvSpPr>
          <p:cNvPr id="157" name="Shape 155"/>
          <p:cNvSpPr/>
          <p:nvPr/>
        </p:nvSpPr>
        <p:spPr>
          <a:xfrm>
            <a:off x="3145536" y="3593592"/>
            <a:ext cx="685800" cy="448056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158" name="Shape 156"/>
          <p:cNvSpPr/>
          <p:nvPr/>
        </p:nvSpPr>
        <p:spPr>
          <a:xfrm>
            <a:off x="3145536" y="3593592"/>
            <a:ext cx="36576" cy="44805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59" name="Text 157"/>
          <p:cNvSpPr/>
          <p:nvPr/>
        </p:nvSpPr>
        <p:spPr>
          <a:xfrm>
            <a:off x="3191256" y="3621024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61.3%</a:t>
            </a:r>
            <a:endParaRPr lang="en-US" sz="900" dirty="0"/>
          </a:p>
        </p:txBody>
      </p:sp>
      <p:sp>
        <p:nvSpPr>
          <p:cNvPr id="160" name="Shape 158"/>
          <p:cNvSpPr/>
          <p:nvPr/>
        </p:nvSpPr>
        <p:spPr>
          <a:xfrm>
            <a:off x="3849624" y="3593592"/>
            <a:ext cx="640080" cy="448056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161" name="Shape 159"/>
          <p:cNvSpPr/>
          <p:nvPr/>
        </p:nvSpPr>
        <p:spPr>
          <a:xfrm>
            <a:off x="3849624" y="3593592"/>
            <a:ext cx="36576" cy="44805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62" name="Text 160"/>
          <p:cNvSpPr/>
          <p:nvPr/>
        </p:nvSpPr>
        <p:spPr>
          <a:xfrm>
            <a:off x="3895344" y="3621024"/>
            <a:ext cx="594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0.590</a:t>
            </a:r>
            <a:endParaRPr lang="en-US" sz="900" dirty="0"/>
          </a:p>
        </p:txBody>
      </p:sp>
      <p:sp>
        <p:nvSpPr>
          <p:cNvPr id="163" name="Shape 161"/>
          <p:cNvSpPr/>
          <p:nvPr/>
        </p:nvSpPr>
        <p:spPr>
          <a:xfrm>
            <a:off x="4507992" y="3593592"/>
            <a:ext cx="640080" cy="448056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164" name="Shape 162"/>
          <p:cNvSpPr/>
          <p:nvPr/>
        </p:nvSpPr>
        <p:spPr>
          <a:xfrm>
            <a:off x="4507992" y="3593592"/>
            <a:ext cx="36576" cy="44805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65" name="Text 163"/>
          <p:cNvSpPr/>
          <p:nvPr/>
        </p:nvSpPr>
        <p:spPr>
          <a:xfrm>
            <a:off x="4553712" y="3621024"/>
            <a:ext cx="594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0.782</a:t>
            </a:r>
            <a:endParaRPr lang="en-US" sz="900" dirty="0"/>
          </a:p>
        </p:txBody>
      </p:sp>
      <p:sp>
        <p:nvSpPr>
          <p:cNvPr id="166" name="Shape 164"/>
          <p:cNvSpPr/>
          <p:nvPr/>
        </p:nvSpPr>
        <p:spPr>
          <a:xfrm>
            <a:off x="5166360" y="3593592"/>
            <a:ext cx="685800" cy="448056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167" name="Shape 165"/>
          <p:cNvSpPr/>
          <p:nvPr/>
        </p:nvSpPr>
        <p:spPr>
          <a:xfrm>
            <a:off x="5166360" y="3593592"/>
            <a:ext cx="36576" cy="44805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68" name="Text 166"/>
          <p:cNvSpPr/>
          <p:nvPr/>
        </p:nvSpPr>
        <p:spPr>
          <a:xfrm>
            <a:off x="5212080" y="3621024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43.3</a:t>
            </a:r>
            <a:endParaRPr lang="en-US" sz="900" dirty="0"/>
          </a:p>
        </p:txBody>
      </p:sp>
      <p:sp>
        <p:nvSpPr>
          <p:cNvPr id="169" name="Shape 167"/>
          <p:cNvSpPr/>
          <p:nvPr/>
        </p:nvSpPr>
        <p:spPr>
          <a:xfrm>
            <a:off x="5870448" y="3593592"/>
            <a:ext cx="731520" cy="448056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170" name="Shape 168"/>
          <p:cNvSpPr/>
          <p:nvPr/>
        </p:nvSpPr>
        <p:spPr>
          <a:xfrm>
            <a:off x="5870448" y="3593592"/>
            <a:ext cx="36576" cy="44805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71" name="Text 169"/>
          <p:cNvSpPr/>
          <p:nvPr/>
        </p:nvSpPr>
        <p:spPr>
          <a:xfrm>
            <a:off x="5916168" y="3621024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-n.d.</a:t>
            </a:r>
            <a:endParaRPr lang="en-US" sz="900" dirty="0"/>
          </a:p>
        </p:txBody>
      </p:sp>
      <p:sp>
        <p:nvSpPr>
          <p:cNvPr id="172" name="Shape 170"/>
          <p:cNvSpPr/>
          <p:nvPr/>
        </p:nvSpPr>
        <p:spPr>
          <a:xfrm>
            <a:off x="6620256" y="3593592"/>
            <a:ext cx="914400" cy="448056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173" name="Shape 171"/>
          <p:cNvSpPr/>
          <p:nvPr/>
        </p:nvSpPr>
        <p:spPr>
          <a:xfrm>
            <a:off x="6620256" y="3593592"/>
            <a:ext cx="36576" cy="44805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74" name="Text 172"/>
          <p:cNvSpPr/>
          <p:nvPr/>
        </p:nvSpPr>
        <p:spPr>
          <a:xfrm>
            <a:off x="6665976" y="3621024"/>
            <a:ext cx="868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_tuned.pt</a:t>
            </a:r>
            <a:endParaRPr lang="en-US" sz="850" dirty="0"/>
          </a:p>
        </p:txBody>
      </p:sp>
      <p:sp>
        <p:nvSpPr>
          <p:cNvPr id="175" name="Shape 173"/>
          <p:cNvSpPr/>
          <p:nvPr/>
        </p:nvSpPr>
        <p:spPr>
          <a:xfrm>
            <a:off x="228600" y="4069080"/>
            <a:ext cx="2194560" cy="448056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176" name="Shape 174"/>
          <p:cNvSpPr/>
          <p:nvPr/>
        </p:nvSpPr>
        <p:spPr>
          <a:xfrm>
            <a:off x="228600" y="4069080"/>
            <a:ext cx="36576" cy="44805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77" name="Text 175"/>
          <p:cNvSpPr/>
          <p:nvPr/>
        </p:nvSpPr>
        <p:spPr>
          <a:xfrm>
            <a:off x="274320" y="4096512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Trans (Optuna)</a:t>
            </a:r>
            <a:endParaRPr lang="en-US" sz="900" dirty="0"/>
          </a:p>
        </p:txBody>
      </p:sp>
      <p:sp>
        <p:nvSpPr>
          <p:cNvPr id="178" name="Shape 176"/>
          <p:cNvSpPr/>
          <p:nvPr/>
        </p:nvSpPr>
        <p:spPr>
          <a:xfrm>
            <a:off x="2441448" y="4069080"/>
            <a:ext cx="685800" cy="448056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179" name="Shape 177"/>
          <p:cNvSpPr/>
          <p:nvPr/>
        </p:nvSpPr>
        <p:spPr>
          <a:xfrm>
            <a:off x="2441448" y="4069080"/>
            <a:ext cx="36576" cy="44805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80" name="Text 178"/>
          <p:cNvSpPr/>
          <p:nvPr/>
        </p:nvSpPr>
        <p:spPr>
          <a:xfrm>
            <a:off x="2487168" y="4096512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195K</a:t>
            </a:r>
            <a:endParaRPr lang="en-US" sz="900" dirty="0"/>
          </a:p>
        </p:txBody>
      </p:sp>
      <p:sp>
        <p:nvSpPr>
          <p:cNvPr id="181" name="Shape 179"/>
          <p:cNvSpPr/>
          <p:nvPr/>
        </p:nvSpPr>
        <p:spPr>
          <a:xfrm>
            <a:off x="3145536" y="4069080"/>
            <a:ext cx="685800" cy="448056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182" name="Shape 180"/>
          <p:cNvSpPr/>
          <p:nvPr/>
        </p:nvSpPr>
        <p:spPr>
          <a:xfrm>
            <a:off x="3145536" y="4069080"/>
            <a:ext cx="36576" cy="44805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83" name="Text 181"/>
          <p:cNvSpPr/>
          <p:nvPr/>
        </p:nvSpPr>
        <p:spPr>
          <a:xfrm>
            <a:off x="3191256" y="4096512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61.5%</a:t>
            </a:r>
            <a:endParaRPr lang="en-US" sz="900" dirty="0"/>
          </a:p>
        </p:txBody>
      </p:sp>
      <p:sp>
        <p:nvSpPr>
          <p:cNvPr id="184" name="Shape 182"/>
          <p:cNvSpPr/>
          <p:nvPr/>
        </p:nvSpPr>
        <p:spPr>
          <a:xfrm>
            <a:off x="3849624" y="4069080"/>
            <a:ext cx="640080" cy="448056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185" name="Shape 183"/>
          <p:cNvSpPr/>
          <p:nvPr/>
        </p:nvSpPr>
        <p:spPr>
          <a:xfrm>
            <a:off x="3849624" y="4069080"/>
            <a:ext cx="36576" cy="44805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86" name="Text 184"/>
          <p:cNvSpPr/>
          <p:nvPr/>
        </p:nvSpPr>
        <p:spPr>
          <a:xfrm>
            <a:off x="3895344" y="4096512"/>
            <a:ext cx="594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0.594</a:t>
            </a:r>
            <a:endParaRPr lang="en-US" sz="900" dirty="0"/>
          </a:p>
        </p:txBody>
      </p:sp>
      <p:sp>
        <p:nvSpPr>
          <p:cNvPr id="187" name="Shape 185"/>
          <p:cNvSpPr/>
          <p:nvPr/>
        </p:nvSpPr>
        <p:spPr>
          <a:xfrm>
            <a:off x="4507992" y="4069080"/>
            <a:ext cx="640080" cy="448056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188" name="Shape 186"/>
          <p:cNvSpPr/>
          <p:nvPr/>
        </p:nvSpPr>
        <p:spPr>
          <a:xfrm>
            <a:off x="4507992" y="4069080"/>
            <a:ext cx="36576" cy="44805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89" name="Text 187"/>
          <p:cNvSpPr/>
          <p:nvPr/>
        </p:nvSpPr>
        <p:spPr>
          <a:xfrm>
            <a:off x="4553712" y="4096512"/>
            <a:ext cx="594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0.788</a:t>
            </a:r>
            <a:endParaRPr lang="en-US" sz="900" dirty="0"/>
          </a:p>
        </p:txBody>
      </p:sp>
      <p:sp>
        <p:nvSpPr>
          <p:cNvPr id="190" name="Shape 188"/>
          <p:cNvSpPr/>
          <p:nvPr/>
        </p:nvSpPr>
        <p:spPr>
          <a:xfrm>
            <a:off x="5166360" y="4069080"/>
            <a:ext cx="685800" cy="448056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191" name="Shape 189"/>
          <p:cNvSpPr/>
          <p:nvPr/>
        </p:nvSpPr>
        <p:spPr>
          <a:xfrm>
            <a:off x="5166360" y="4069080"/>
            <a:ext cx="36576" cy="44805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92" name="Text 190"/>
          <p:cNvSpPr/>
          <p:nvPr/>
        </p:nvSpPr>
        <p:spPr>
          <a:xfrm>
            <a:off x="5212080" y="4096512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48.4</a:t>
            </a:r>
            <a:endParaRPr lang="en-US" sz="900" dirty="0"/>
          </a:p>
        </p:txBody>
      </p:sp>
      <p:sp>
        <p:nvSpPr>
          <p:cNvPr id="193" name="Shape 191"/>
          <p:cNvSpPr/>
          <p:nvPr/>
        </p:nvSpPr>
        <p:spPr>
          <a:xfrm>
            <a:off x="5870448" y="4069080"/>
            <a:ext cx="731520" cy="448056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194" name="Shape 192"/>
          <p:cNvSpPr/>
          <p:nvPr/>
        </p:nvSpPr>
        <p:spPr>
          <a:xfrm>
            <a:off x="5870448" y="4069080"/>
            <a:ext cx="36576" cy="44805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95" name="Text 193"/>
          <p:cNvSpPr/>
          <p:nvPr/>
        </p:nvSpPr>
        <p:spPr>
          <a:xfrm>
            <a:off x="5916168" y="4096512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-n.d.</a:t>
            </a:r>
            <a:endParaRPr lang="en-US" sz="900" dirty="0"/>
          </a:p>
        </p:txBody>
      </p:sp>
      <p:sp>
        <p:nvSpPr>
          <p:cNvPr id="196" name="Shape 194"/>
          <p:cNvSpPr/>
          <p:nvPr/>
        </p:nvSpPr>
        <p:spPr>
          <a:xfrm>
            <a:off x="6620256" y="4069080"/>
            <a:ext cx="914400" cy="448056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197" name="Shape 195"/>
          <p:cNvSpPr/>
          <p:nvPr/>
        </p:nvSpPr>
        <p:spPr>
          <a:xfrm>
            <a:off x="6620256" y="4069080"/>
            <a:ext cx="36576" cy="44805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98" name="Text 196"/>
          <p:cNvSpPr/>
          <p:nvPr/>
        </p:nvSpPr>
        <p:spPr>
          <a:xfrm>
            <a:off x="6665976" y="4096512"/>
            <a:ext cx="868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_tuned.pt</a:t>
            </a:r>
            <a:endParaRPr lang="en-US" sz="850" dirty="0"/>
          </a:p>
        </p:txBody>
      </p:sp>
      <p:sp>
        <p:nvSpPr>
          <p:cNvPr id="199" name="Shape 197"/>
          <p:cNvSpPr/>
          <p:nvPr/>
        </p:nvSpPr>
        <p:spPr>
          <a:xfrm>
            <a:off x="228600" y="4544568"/>
            <a:ext cx="2194560" cy="448056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200" name="Shape 198"/>
          <p:cNvSpPr/>
          <p:nvPr/>
        </p:nvSpPr>
        <p:spPr>
          <a:xfrm>
            <a:off x="228600" y="4544568"/>
            <a:ext cx="36576" cy="448056"/>
          </a:xfrm>
          <a:prstGeom prst="rect">
            <a:avLst/>
          </a:prstGeom>
          <a:solidFill>
            <a:srgbClr val="166534"/>
          </a:solidFill>
          <a:ln/>
        </p:spPr>
      </p:sp>
      <p:sp>
        <p:nvSpPr>
          <p:cNvPr id="201" name="Text 199"/>
          <p:cNvSpPr/>
          <p:nvPr/>
        </p:nvSpPr>
        <p:spPr>
          <a:xfrm>
            <a:off x="274320" y="457200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pondéré ★</a:t>
            </a:r>
            <a:endParaRPr lang="en-US" sz="900" dirty="0"/>
          </a:p>
        </p:txBody>
      </p:sp>
      <p:sp>
        <p:nvSpPr>
          <p:cNvPr id="202" name="Shape 200"/>
          <p:cNvSpPr/>
          <p:nvPr/>
        </p:nvSpPr>
        <p:spPr>
          <a:xfrm>
            <a:off x="2441448" y="4544568"/>
            <a:ext cx="685800" cy="448056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203" name="Shape 201"/>
          <p:cNvSpPr/>
          <p:nvPr/>
        </p:nvSpPr>
        <p:spPr>
          <a:xfrm>
            <a:off x="2441448" y="4544568"/>
            <a:ext cx="36576" cy="448056"/>
          </a:xfrm>
          <a:prstGeom prst="rect">
            <a:avLst/>
          </a:prstGeom>
          <a:solidFill>
            <a:srgbClr val="166534"/>
          </a:solidFill>
          <a:ln/>
        </p:spPr>
      </p:sp>
      <p:sp>
        <p:nvSpPr>
          <p:cNvPr id="204" name="Text 202"/>
          <p:cNvSpPr/>
          <p:nvPr/>
        </p:nvSpPr>
        <p:spPr>
          <a:xfrm>
            <a:off x="2487168" y="4572000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1.67M</a:t>
            </a:r>
            <a:endParaRPr lang="en-US" sz="900" dirty="0"/>
          </a:p>
        </p:txBody>
      </p:sp>
      <p:sp>
        <p:nvSpPr>
          <p:cNvPr id="205" name="Shape 203"/>
          <p:cNvSpPr/>
          <p:nvPr/>
        </p:nvSpPr>
        <p:spPr>
          <a:xfrm>
            <a:off x="3145536" y="4544568"/>
            <a:ext cx="685800" cy="448056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206" name="Shape 204"/>
          <p:cNvSpPr/>
          <p:nvPr/>
        </p:nvSpPr>
        <p:spPr>
          <a:xfrm>
            <a:off x="3145536" y="4544568"/>
            <a:ext cx="36576" cy="448056"/>
          </a:xfrm>
          <a:prstGeom prst="rect">
            <a:avLst/>
          </a:prstGeom>
          <a:solidFill>
            <a:srgbClr val="166534"/>
          </a:solidFill>
          <a:ln/>
        </p:spPr>
      </p:sp>
      <p:sp>
        <p:nvSpPr>
          <p:cNvPr id="207" name="Text 205"/>
          <p:cNvSpPr/>
          <p:nvPr/>
        </p:nvSpPr>
        <p:spPr>
          <a:xfrm>
            <a:off x="3191256" y="4572000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65.2%</a:t>
            </a:r>
            <a:endParaRPr lang="en-US" sz="900" dirty="0"/>
          </a:p>
        </p:txBody>
      </p:sp>
      <p:sp>
        <p:nvSpPr>
          <p:cNvPr id="208" name="Shape 206"/>
          <p:cNvSpPr/>
          <p:nvPr/>
        </p:nvSpPr>
        <p:spPr>
          <a:xfrm>
            <a:off x="3849624" y="4544568"/>
            <a:ext cx="640080" cy="448056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209" name="Shape 207"/>
          <p:cNvSpPr/>
          <p:nvPr/>
        </p:nvSpPr>
        <p:spPr>
          <a:xfrm>
            <a:off x="3849624" y="4544568"/>
            <a:ext cx="36576" cy="448056"/>
          </a:xfrm>
          <a:prstGeom prst="rect">
            <a:avLst/>
          </a:prstGeom>
          <a:solidFill>
            <a:srgbClr val="166534"/>
          </a:solidFill>
          <a:ln/>
        </p:spPr>
      </p:sp>
      <p:sp>
        <p:nvSpPr>
          <p:cNvPr id="210" name="Text 208"/>
          <p:cNvSpPr/>
          <p:nvPr/>
        </p:nvSpPr>
        <p:spPr>
          <a:xfrm>
            <a:off x="3895344" y="4572000"/>
            <a:ext cx="594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0.630</a:t>
            </a:r>
            <a:endParaRPr lang="en-US" sz="900" dirty="0"/>
          </a:p>
        </p:txBody>
      </p:sp>
      <p:sp>
        <p:nvSpPr>
          <p:cNvPr id="211" name="Shape 209"/>
          <p:cNvSpPr/>
          <p:nvPr/>
        </p:nvSpPr>
        <p:spPr>
          <a:xfrm>
            <a:off x="4507992" y="4544568"/>
            <a:ext cx="640080" cy="448056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212" name="Shape 210"/>
          <p:cNvSpPr/>
          <p:nvPr/>
        </p:nvSpPr>
        <p:spPr>
          <a:xfrm>
            <a:off x="4507992" y="4544568"/>
            <a:ext cx="36576" cy="448056"/>
          </a:xfrm>
          <a:prstGeom prst="rect">
            <a:avLst/>
          </a:prstGeom>
          <a:solidFill>
            <a:srgbClr val="166534"/>
          </a:solidFill>
          <a:ln/>
        </p:spPr>
      </p:sp>
      <p:sp>
        <p:nvSpPr>
          <p:cNvPr id="213" name="Text 211"/>
          <p:cNvSpPr/>
          <p:nvPr/>
        </p:nvSpPr>
        <p:spPr>
          <a:xfrm>
            <a:off x="4553712" y="4572000"/>
            <a:ext cx="594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0.819</a:t>
            </a:r>
            <a:endParaRPr lang="en-US" sz="900" dirty="0"/>
          </a:p>
        </p:txBody>
      </p:sp>
      <p:sp>
        <p:nvSpPr>
          <p:cNvPr id="214" name="Shape 212"/>
          <p:cNvSpPr/>
          <p:nvPr/>
        </p:nvSpPr>
        <p:spPr>
          <a:xfrm>
            <a:off x="5166360" y="4544568"/>
            <a:ext cx="685800" cy="448056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215" name="Shape 213"/>
          <p:cNvSpPr/>
          <p:nvPr/>
        </p:nvSpPr>
        <p:spPr>
          <a:xfrm>
            <a:off x="5166360" y="4544568"/>
            <a:ext cx="36576" cy="448056"/>
          </a:xfrm>
          <a:prstGeom prst="rect">
            <a:avLst/>
          </a:prstGeom>
          <a:solidFill>
            <a:srgbClr val="166534"/>
          </a:solidFill>
          <a:ln/>
        </p:spPr>
      </p:sp>
      <p:sp>
        <p:nvSpPr>
          <p:cNvPr id="216" name="Text 214"/>
          <p:cNvSpPr/>
          <p:nvPr/>
        </p:nvSpPr>
        <p:spPr>
          <a:xfrm>
            <a:off x="5212080" y="4572000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49.3</a:t>
            </a:r>
            <a:endParaRPr lang="en-US" sz="900" dirty="0"/>
          </a:p>
        </p:txBody>
      </p:sp>
      <p:sp>
        <p:nvSpPr>
          <p:cNvPr id="217" name="Shape 215"/>
          <p:cNvSpPr/>
          <p:nvPr/>
        </p:nvSpPr>
        <p:spPr>
          <a:xfrm>
            <a:off x="5870448" y="4544568"/>
            <a:ext cx="731520" cy="448056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218" name="Shape 216"/>
          <p:cNvSpPr/>
          <p:nvPr/>
        </p:nvSpPr>
        <p:spPr>
          <a:xfrm>
            <a:off x="5870448" y="4544568"/>
            <a:ext cx="36576" cy="448056"/>
          </a:xfrm>
          <a:prstGeom prst="rect">
            <a:avLst/>
          </a:prstGeom>
          <a:solidFill>
            <a:srgbClr val="166534"/>
          </a:solidFill>
          <a:ln/>
        </p:spPr>
      </p:sp>
      <p:sp>
        <p:nvSpPr>
          <p:cNvPr id="219" name="Text 217"/>
          <p:cNvSpPr/>
          <p:nvPr/>
        </p:nvSpPr>
        <p:spPr>
          <a:xfrm>
            <a:off x="5916168" y="4572000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-4.07%</a:t>
            </a:r>
            <a:endParaRPr lang="en-US" sz="900" dirty="0"/>
          </a:p>
        </p:txBody>
      </p:sp>
      <p:sp>
        <p:nvSpPr>
          <p:cNvPr id="220" name="Shape 218"/>
          <p:cNvSpPr/>
          <p:nvPr/>
        </p:nvSpPr>
        <p:spPr>
          <a:xfrm>
            <a:off x="6620256" y="4544568"/>
            <a:ext cx="914400" cy="448056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221" name="Shape 219"/>
          <p:cNvSpPr/>
          <p:nvPr/>
        </p:nvSpPr>
        <p:spPr>
          <a:xfrm>
            <a:off x="6620256" y="4544568"/>
            <a:ext cx="36576" cy="448056"/>
          </a:xfrm>
          <a:prstGeom prst="rect">
            <a:avLst/>
          </a:prstGeom>
          <a:solidFill>
            <a:srgbClr val="166534"/>
          </a:solidFill>
          <a:ln/>
        </p:spPr>
      </p:sp>
      <p:sp>
        <p:nvSpPr>
          <p:cNvPr id="222" name="Text 220"/>
          <p:cNvSpPr/>
          <p:nvPr/>
        </p:nvSpPr>
        <p:spPr>
          <a:xfrm>
            <a:off x="6665976" y="4572000"/>
            <a:ext cx="868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</a:t>
            </a:r>
            <a:endParaRPr lang="en-US" sz="850" dirty="0"/>
          </a:p>
        </p:txBody>
      </p:sp>
      <p:sp>
        <p:nvSpPr>
          <p:cNvPr id="223" name="Text 221"/>
          <p:cNvSpPr/>
          <p:nvPr/>
        </p:nvSpPr>
        <p:spPr>
          <a:xfrm>
            <a:off x="228600" y="5148072"/>
            <a:ext cx="8686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Défaut = hyperparamètres config.yaml  ·  Optuna = meilleur compromis Pareto (F1+Sharpe)  ·  ★ = système final recommandé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21A40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68580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critique — Limites et perspectives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20116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Honnêteté scientifique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8869680" y="4892040"/>
            <a:ext cx="274320" cy="2286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8869680" y="489204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28600" y="868680"/>
            <a:ext cx="4206240" cy="34747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86868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identifiées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28600" y="1298448"/>
            <a:ext cx="4206240" cy="4297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228600" y="1298448"/>
            <a:ext cx="45720" cy="42976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1335024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6 mois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47472" y="1536192"/>
            <a:ext cx="3931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cycle de marché complet — CAGR non interprétable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28600" y="1783080"/>
            <a:ext cx="4206240" cy="429768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14" name="Shape 12"/>
          <p:cNvSpPr/>
          <p:nvPr/>
        </p:nvSpPr>
        <p:spPr>
          <a:xfrm>
            <a:off x="228600" y="1783080"/>
            <a:ext cx="45720" cy="42976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5" name="Text 13"/>
          <p:cNvSpPr/>
          <p:nvPr/>
        </p:nvSpPr>
        <p:spPr>
          <a:xfrm>
            <a:off x="347472" y="1819656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F1 = 0.48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47472" y="2020824"/>
            <a:ext cx="3931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Sous-prédit systématiquement — biais structural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28600" y="2267712"/>
            <a:ext cx="4206240" cy="4297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228600" y="2267712"/>
            <a:ext cx="45720" cy="42976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9" name="Text 17"/>
          <p:cNvSpPr/>
          <p:nvPr/>
        </p:nvSpPr>
        <p:spPr>
          <a:xfrm>
            <a:off x="347472" y="2304288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TFT Lite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47472" y="2505456"/>
            <a:ext cx="3931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Sous-convergé en 20 epochs — 40+ epochs nécessaires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28600" y="2752344"/>
            <a:ext cx="4206240" cy="429768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22" name="Shape 20"/>
          <p:cNvSpPr/>
          <p:nvPr/>
        </p:nvSpPr>
        <p:spPr>
          <a:xfrm>
            <a:off x="228600" y="2752344"/>
            <a:ext cx="45720" cy="42976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3" name="Text 21"/>
          <p:cNvSpPr/>
          <p:nvPr/>
        </p:nvSpPr>
        <p:spPr>
          <a:xfrm>
            <a:off x="347472" y="2788920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walk-forward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47472" y="2990088"/>
            <a:ext cx="3931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seul split temporel — risque de surapprentissage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28600" y="3236976"/>
            <a:ext cx="4206240" cy="4297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Shape 24"/>
          <p:cNvSpPr/>
          <p:nvPr/>
        </p:nvSpPr>
        <p:spPr>
          <a:xfrm>
            <a:off x="228600" y="3236976"/>
            <a:ext cx="45720" cy="42976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7" name="Text 25"/>
          <p:cNvSpPr/>
          <p:nvPr/>
        </p:nvSpPr>
        <p:spPr>
          <a:xfrm>
            <a:off x="347472" y="3273552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statiques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47472" y="3474720"/>
            <a:ext cx="3931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flux Binance live — données figées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28600" y="3721608"/>
            <a:ext cx="4206240" cy="429768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30" name="Shape 28"/>
          <p:cNvSpPr/>
          <p:nvPr/>
        </p:nvSpPr>
        <p:spPr>
          <a:xfrm>
            <a:off x="228600" y="3721608"/>
            <a:ext cx="45720" cy="42976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1" name="Text 29"/>
          <p:cNvSpPr/>
          <p:nvPr/>
        </p:nvSpPr>
        <p:spPr>
          <a:xfrm>
            <a:off x="347472" y="3758184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Optuna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47472" y="3959352"/>
            <a:ext cx="3931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Régression F1 -1.4% — 20 trials insuffisants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709160" y="868680"/>
            <a:ext cx="4206240" cy="347472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4" name="Text 32"/>
          <p:cNvSpPr/>
          <p:nvPr/>
        </p:nvSpPr>
        <p:spPr>
          <a:xfrm>
            <a:off x="4800600" y="86868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Perspectives techniques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709160" y="1298448"/>
            <a:ext cx="42062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09160" y="1298448"/>
            <a:ext cx="4206240" cy="34747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7" name="Text 35"/>
          <p:cNvSpPr/>
          <p:nvPr/>
        </p:nvSpPr>
        <p:spPr>
          <a:xfrm>
            <a:off x="4800600" y="1335024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Court terme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800600" y="1700784"/>
            <a:ext cx="4023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Relancer ensemble avec modèles _tuned.pt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800600" y="1901952"/>
            <a:ext cx="4023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TFT Lite : 40+ epochs, lr=0.0001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800600" y="2103120"/>
            <a:ext cx="4023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50 trials Optuna pour LSTM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800600" y="2304288"/>
            <a:ext cx="4023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Augmenter poids Hold dans loss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709160" y="2560320"/>
            <a:ext cx="42062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709160" y="2560320"/>
            <a:ext cx="4206240" cy="34747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4" name="Text 42"/>
          <p:cNvSpPr/>
          <p:nvPr/>
        </p:nvSpPr>
        <p:spPr>
          <a:xfrm>
            <a:off x="4800600" y="2596896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Moyen terme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800600" y="2962656"/>
            <a:ext cx="4023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Walk-forward backtest mensuel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800600" y="3163824"/>
            <a:ext cx="4023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Intégration live Binance WebSocket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800600" y="3364992"/>
            <a:ext cx="4023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Dashboard temps réel (FastAPI + WebSocket)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800600" y="3566160"/>
            <a:ext cx="4023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Diversification 10+ actifs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709160" y="3822192"/>
            <a:ext cx="42062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4709160" y="3822192"/>
            <a:ext cx="4206240" cy="34747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1" name="Text 49"/>
          <p:cNvSpPr/>
          <p:nvPr/>
        </p:nvSpPr>
        <p:spPr>
          <a:xfrm>
            <a:off x="4800600" y="385876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terme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4800600" y="4224528"/>
            <a:ext cx="4023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RL agent : remplacer classification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4800600" y="4425696"/>
            <a:ext cx="4023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Meta-learner (stacking) pour l'ensemble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4800600" y="4626864"/>
            <a:ext cx="4023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Kelly Criterion — position sizing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4800600" y="4828032"/>
            <a:ext cx="4023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Données alternatives : on-chain, sentiment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0"/>
            <a:ext cx="0" cy="5148072"/>
          </a:xfrm>
          <a:prstGeom prst="line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0" y="0"/>
            <a:ext cx="0" cy="5148072"/>
          </a:xfrm>
          <a:prstGeom prst="line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74720" y="0"/>
            <a:ext cx="0" cy="5148072"/>
          </a:xfrm>
          <a:prstGeom prst="line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120640" y="0"/>
            <a:ext cx="0" cy="5148072"/>
          </a:xfrm>
          <a:prstGeom prst="line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766560" y="0"/>
            <a:ext cx="0" cy="5148072"/>
          </a:xfrm>
          <a:prstGeom prst="line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0" y="0"/>
            <a:ext cx="0" cy="5148072"/>
          </a:xfrm>
          <a:prstGeom prst="line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0"/>
            <a:ext cx="73152" cy="5148072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9" name="Text 7"/>
          <p:cNvSpPr/>
          <p:nvPr/>
        </p:nvSpPr>
        <p:spPr>
          <a:xfrm>
            <a:off x="228600" y="32004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Conclusion technique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28600" y="914400"/>
            <a:ext cx="8686800" cy="713232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228600" y="914400"/>
            <a:ext cx="64008" cy="713232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2" name="Shape 10"/>
          <p:cNvSpPr/>
          <p:nvPr/>
        </p:nvSpPr>
        <p:spPr>
          <a:xfrm>
            <a:off x="384048" y="1024128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22C55E"/>
          </a:solidFill>
          <a:ln/>
        </p:spPr>
      </p:sp>
      <p:sp>
        <p:nvSpPr>
          <p:cNvPr id="13" name="Text 11"/>
          <p:cNvSpPr/>
          <p:nvPr/>
        </p:nvSpPr>
        <p:spPr>
          <a:xfrm>
            <a:off x="384048" y="10241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86968" y="969264"/>
            <a:ext cx="7909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ML complet et reproductible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86968" y="1298448"/>
            <a:ext cx="7909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→ Features → 4 modèles → Optuna Pareto → Ensemble → API → Docker → CI/CD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8600" y="1709928"/>
            <a:ext cx="8686800" cy="713232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228600" y="1709928"/>
            <a:ext cx="64008" cy="71323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8" name="Shape 16"/>
          <p:cNvSpPr/>
          <p:nvPr/>
        </p:nvSpPr>
        <p:spPr>
          <a:xfrm>
            <a:off x="384048" y="1819656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4B8A6"/>
          </a:solidFill>
          <a:ln/>
        </p:spPr>
      </p:sp>
      <p:sp>
        <p:nvSpPr>
          <p:cNvPr id="19" name="Text 17"/>
          <p:cNvSpPr/>
          <p:nvPr/>
        </p:nvSpPr>
        <p:spPr>
          <a:xfrm>
            <a:off x="384048" y="181965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86968" y="1764792"/>
            <a:ext cx="7909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solides et fiables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86968" y="2093976"/>
            <a:ext cx="7909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F1=0.630 · AUC=0.819 · Sharpe=49.3 · Max DD=-4.07% — tous sur données inédites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28600" y="2505456"/>
            <a:ext cx="8686800" cy="713232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228600" y="2505456"/>
            <a:ext cx="64008" cy="713232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24" name="Shape 22"/>
          <p:cNvSpPr/>
          <p:nvPr/>
        </p:nvSpPr>
        <p:spPr>
          <a:xfrm>
            <a:off x="384048" y="261518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CADCFC"/>
          </a:solidFill>
          <a:ln/>
        </p:spPr>
      </p:sp>
      <p:sp>
        <p:nvSpPr>
          <p:cNvPr id="25" name="Text 23"/>
          <p:cNvSpPr/>
          <p:nvPr/>
        </p:nvSpPr>
        <p:spPr>
          <a:xfrm>
            <a:off x="384048" y="261518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86968" y="2560320"/>
            <a:ext cx="7909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Backtest méthodologiquement sain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86968" y="2889504"/>
            <a:ext cx="7909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multi-actifs corrigé · Agrégation par timestamp · No look-ahead · Frais inclus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28600" y="3300984"/>
            <a:ext cx="8686800" cy="713232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228600" y="3300984"/>
            <a:ext cx="64008" cy="71323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0" name="Shape 28"/>
          <p:cNvSpPr/>
          <p:nvPr/>
        </p:nvSpPr>
        <p:spPr>
          <a:xfrm>
            <a:off x="384048" y="341071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7C3AED"/>
          </a:solidFill>
          <a:ln/>
        </p:spPr>
      </p:sp>
      <p:sp>
        <p:nvSpPr>
          <p:cNvPr id="31" name="Text 29"/>
          <p:cNvSpPr/>
          <p:nvPr/>
        </p:nvSpPr>
        <p:spPr>
          <a:xfrm>
            <a:off x="384048" y="34107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86968" y="3355848"/>
            <a:ext cx="7909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production robuste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86968" y="3685032"/>
            <a:ext cx="7909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· Docker multi-stage · Healthcheck · CI/CD · 15 tests auto · MLflow tracking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28600" y="4096512"/>
            <a:ext cx="8686800" cy="713232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228600" y="4096512"/>
            <a:ext cx="64008" cy="7132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6" name="Shape 34"/>
          <p:cNvSpPr/>
          <p:nvPr/>
        </p:nvSpPr>
        <p:spPr>
          <a:xfrm>
            <a:off x="384048" y="420624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59E0B"/>
          </a:solidFill>
          <a:ln/>
        </p:spPr>
      </p:sp>
      <p:sp>
        <p:nvSpPr>
          <p:cNvPr id="37" name="Text 35"/>
          <p:cNvSpPr/>
          <p:nvPr/>
        </p:nvSpPr>
        <p:spPr>
          <a:xfrm>
            <a:off x="384048" y="42062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86968" y="4151376"/>
            <a:ext cx="7909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Transparence totale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886968" y="4480560"/>
            <a:ext cx="7909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bugs documentés avec cause + correction · Limites clairement identifiées · CAGR nuancé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228600" y="4828032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Système de Trading IA — Présentation Technique Experte</dc:title>
  <dc:subject>PptxGenJS Presentation</dc:subject>
  <dc:creator>PptxGenJS</dc:creator>
  <cp:lastModifiedBy>PptxGenJS</cp:lastModifiedBy>
  <cp:revision>1</cp:revision>
  <dcterms:created xsi:type="dcterms:W3CDTF">2026-04-14T21:37:13Z</dcterms:created>
  <dcterms:modified xsi:type="dcterms:W3CDTF">2026-04-14T21:37:13Z</dcterms:modified>
</cp:coreProperties>
</file>