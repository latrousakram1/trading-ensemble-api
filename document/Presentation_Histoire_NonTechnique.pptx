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Volatilité %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6F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E57C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Or</c:v>
                  </c:pt>
                  <c:pt idx="1">
                    <c:v>S&amp;P 500</c:v>
                  </c:pt>
                  <c:pt idx="2">
                    <c:v>EUR/USD</c:v>
                  </c:pt>
                  <c:pt idx="3">
                    <c:v>Actions tech</c:v>
                  </c:pt>
                  <c:pt idx="4">
                    <c:v>BTC</c:v>
                  </c:pt>
                  <c:pt idx="5">
                    <c:v>ETH</c:v>
                  </c:pt>
                  <c:pt idx="6">
                    <c:v>SOL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7</c:v>
                </c:pt>
                <c:pt idx="3">
                  <c:v>28</c:v>
                </c:pt>
                <c:pt idx="4">
                  <c:v>72</c:v>
                </c:pt>
                <c:pt idx="5">
                  <c:v>88</c:v>
                </c:pt>
                <c:pt idx="6">
                  <c:v>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F1-macro</c:v>
                </c:pt>
              </c:strCache>
            </c:strRef>
          </c:tx>
          <c:spPr>
            <a:solidFill>
              <a:srgbClr val="6B7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9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9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9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Au hasard
(référence)</c:v>
                  </c:pt>
                  <c:pt idx="1">
                    <c:v>Modèle 1
seul</c:v>
                  </c:pt>
                  <c:pt idx="2">
                    <c:v>Modèle 2
seul</c:v>
                  </c:pt>
                  <c:pt idx="3">
                    <c:v>Modèle 3
seul</c:v>
                  </c:pt>
                  <c:pt idx="4">
                    <c:v>Notre système
(3 modèles)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53</c:v>
                </c:pt>
                <c:pt idx="2">
                  <c:v>59</c:v>
                </c:pt>
                <c:pt idx="3">
                  <c:v>60</c:v>
                </c:pt>
                <c:pt idx="4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Résultat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E0E0E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Gagnants 73.5%</c:v>
                </c:pt>
                <c:pt idx="1">
                  <c:v>Perdants 26.5%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73.5</c:v>
                </c:pt>
                <c:pt idx="1">
                  <c:v>26.5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Probabilité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7D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Baisse (Sell)</c:v>
                  </c:pt>
                  <c:pt idx="1">
                    <c:v>Stable (Hold)</c:v>
                  </c:pt>
                  <c:pt idx="2">
                    <c:v>Hausse (Buy)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25.1</c:v>
                </c:pt>
                <c:pt idx="1">
                  <c:v>53.7</c:v>
                </c:pt>
                <c:pt idx="2">
                  <c:v>21.2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2C5F2D">
              <a:alpha val="40000"/>
            </a:srgbClr>
          </a:solidFill>
          <a:ln w="12700">
            <a:solidFill>
              <a:srgbClr val="2C5F2D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97BC62">
              <a:alpha val="30000"/>
            </a:srgbClr>
          </a:solidFill>
          <a:ln w="1270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1371600" cy="1371600"/>
          </a:xfrm>
          <a:prstGeom prst="ellipse">
            <a:avLst/>
          </a:prstGeom>
          <a:solidFill>
            <a:srgbClr val="97BC62">
              <a:alpha val="25000"/>
            </a:srgbClr>
          </a:solidFill>
          <a:ln w="12700">
            <a:solidFill>
              <a:srgbClr val="97BC62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6576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Chapitre 1 sur 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était une fois...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trader qui</a:t>
            </a:r>
            <a:endParaRPr lang="en-US" sz="5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dormait plus.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AACC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marchés crypto ne s'arrêtent jamais.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1" dirty="0">
                <a:solidFill>
                  <a:srgbClr val="AACC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Lui, si. Mais le marché, non.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89520" y="914400"/>
            <a:ext cx="1280160" cy="128016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9144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Trading IA  ·  Présentation  ·  Avril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Chapitre 2 — Les chiffres du chaos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"Les marchés crypto sont les plus volatils au monde.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décisions humaines y sont souvent les pires."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C62828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965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traders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perdent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520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année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87452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8B1A1A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965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423160" y="2743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dort jamais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3520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aux humains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B71C1C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965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variation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BTC 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520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 → Oct 2025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187452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C62828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965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0.3s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720840" y="2743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marché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3520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rapide pour l'humain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462272"/>
            <a:ext cx="8595360" cy="5029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4462272"/>
            <a:ext cx="64008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Résultat : stress permanent, décisions émotionnelles, pertes évitables.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c'est si difficile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Chapitre 3 — La volatilité en chiffres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Volatilité annualisée comparée (écart-type des rendements quotidiens)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32588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32588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FFEBEE"/>
          </a:solidFill>
          <a:ln/>
        </p:spPr>
      </p:sp>
      <p:sp>
        <p:nvSpPr>
          <p:cNvPr id="8" name="Shape 5"/>
          <p:cNvSpPr/>
          <p:nvPr/>
        </p:nvSpPr>
        <p:spPr>
          <a:xfrm>
            <a:off x="5852160" y="1325880"/>
            <a:ext cx="64008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5989320" y="141732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BTC est 4× plus volatile que les actions technologiques et 10× plus que l'or.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52160" y="283464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/>
        </p:spPr>
      </p:sp>
      <p:sp>
        <p:nvSpPr>
          <p:cNvPr id="11" name="Shape 8"/>
          <p:cNvSpPr/>
          <p:nvPr/>
        </p:nvSpPr>
        <p:spPr>
          <a:xfrm>
            <a:off x="5852160" y="2834640"/>
            <a:ext cx="64008" cy="9144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28803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2024, le BTC a perdu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-22% en une seule journée.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0" y="388620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14" name="Shape 11"/>
          <p:cNvSpPr/>
          <p:nvPr/>
        </p:nvSpPr>
        <p:spPr>
          <a:xfrm>
            <a:off x="5852160" y="3886200"/>
            <a:ext cx="64008" cy="914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320" y="39319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signal IA réactif peut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capturer ces mouvements.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Chapitre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si une machine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pouvait faire ça 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Analyser 96 heures de données en quelques millisecondes.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Traiter 4 cryptomonnaies en même temps.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jamais paniquer. Ne jamais dormir.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38404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858768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1 000× plus rapide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qu'un humain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38404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3858768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40480" y="3886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de précision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signaux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858768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20840" y="38862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 24h/24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interruption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ça marche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Chapitre 5 — Le voyage de la donnée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"Du prix brut au signal d'achat en 3 étapes."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868680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17320"/>
            <a:ext cx="64008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50876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0876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463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système collecte 96 heures de données pour BTC, ETH, BNB et SOL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d'ouverture/fermeture · volume · tendances · indices de momentum · heure du jour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578608"/>
            <a:ext cx="868680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578608"/>
            <a:ext cx="64008" cy="100584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670048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0796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6700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6243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intelligences artificielles analysent ces données simultanément 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299008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chacune spécialisée dans des patterns différents (court terme · tendances · cycles)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739896"/>
            <a:ext cx="868680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739896"/>
            <a:ext cx="64008" cy="10058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831336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F9A82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831336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78561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vote pondéré combine les 3 avis pour produire le signal final 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15137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BUY si hausse probable  ·  🔴 SELL si baisse probable  ·  ⚪ HOLD si incertain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preuves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Chapitre 6 — Ce que les chiffres disent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des signaux — F1-macro (plus c'est haut, mieux c'est)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1261872"/>
          <a:ext cx="47548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0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gagnants sur 100 trades</a:t>
            </a:r>
            <a:endParaRPr lang="en-US" sz="11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983480" y="1261872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228600" y="3977640"/>
            <a:ext cx="8686800" cy="914400"/>
          </a:xfrm>
          <a:prstGeom prst="rect">
            <a:avLst/>
          </a:prstGeom>
          <a:solidFill>
            <a:srgbClr val="1A3A1B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0416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457200" y="4434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globale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606040" y="40416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73.5%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2606040" y="4434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gagnants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54880" y="40416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-4%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754880" y="4434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max observée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903720" y="40416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6903720" y="4434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système en 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avril 2026 · 19h00 UTC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3931920" cy="594360"/>
          </a:xfrm>
          <a:prstGeom prst="rect">
            <a:avLst/>
          </a:prstGeom>
          <a:solidFill>
            <a:srgbClr val="1A3A1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14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BTCUSDT  ·  71 084 $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7D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⚪ HOLD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— marché en consolidation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20040" y="2743200"/>
          <a:ext cx="36576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434840" y="914400"/>
            <a:ext cx="44805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914400"/>
            <a:ext cx="4480560" cy="59436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9144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de tous les actifs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0" y="1627632"/>
            <a:ext cx="42062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4617720" y="17373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BTCUSDT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97880" y="1737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HOLD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0" y="1810512"/>
            <a:ext cx="128016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0" y="1810512"/>
            <a:ext cx="687446" cy="22860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9" name="Text 16"/>
          <p:cNvSpPr/>
          <p:nvPr/>
        </p:nvSpPr>
        <p:spPr>
          <a:xfrm>
            <a:off x="8641080" y="173736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53.7%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2377440"/>
            <a:ext cx="4206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4617720" y="24871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ETHUSDT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897880" y="24871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HOLD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315200" y="2560320"/>
            <a:ext cx="128016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1"/>
          <p:cNvSpPr/>
          <p:nvPr/>
        </p:nvSpPr>
        <p:spPr>
          <a:xfrm>
            <a:off x="7315200" y="2560320"/>
            <a:ext cx="617037" cy="22860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5" name="Text 22"/>
          <p:cNvSpPr/>
          <p:nvPr/>
        </p:nvSpPr>
        <p:spPr>
          <a:xfrm>
            <a:off x="8641080" y="24871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0" y="3127248"/>
            <a:ext cx="42062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4"/>
          <p:cNvSpPr/>
          <p:nvPr/>
        </p:nvSpPr>
        <p:spPr>
          <a:xfrm>
            <a:off x="4617720" y="323697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BNBUSDT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897880" y="32369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HOLD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315200" y="3310128"/>
            <a:ext cx="128016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0" name="Shape 27"/>
          <p:cNvSpPr/>
          <p:nvPr/>
        </p:nvSpPr>
        <p:spPr>
          <a:xfrm>
            <a:off x="7315200" y="3310128"/>
            <a:ext cx="824423" cy="22860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1" name="Text 28"/>
          <p:cNvSpPr/>
          <p:nvPr/>
        </p:nvSpPr>
        <p:spPr>
          <a:xfrm>
            <a:off x="8641080" y="323697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64.4%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0" y="3877056"/>
            <a:ext cx="4206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4617720" y="398678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SOLUSDT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897880" y="39867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HOLD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315200" y="4059936"/>
            <a:ext cx="1280160" cy="2286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6" name="Shape 33"/>
          <p:cNvSpPr/>
          <p:nvPr/>
        </p:nvSpPr>
        <p:spPr>
          <a:xfrm>
            <a:off x="7315200" y="4059936"/>
            <a:ext cx="649041" cy="22860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7" name="Text 34"/>
          <p:cNvSpPr/>
          <p:nvPr/>
        </p:nvSpPr>
        <p:spPr>
          <a:xfrm>
            <a:off x="8641080" y="398678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434840" y="4636008"/>
            <a:ext cx="448056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9" name="Text 36"/>
          <p:cNvSpPr/>
          <p:nvPr/>
        </p:nvSpPr>
        <p:spPr>
          <a:xfrm>
            <a:off x="4526280" y="46634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Signal unanime : HOLD · Pas de trade ce jour-là.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 vs Après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Chapitre 7 — La transformation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 — Sans le système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4114800" cy="6858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002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57276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traders perdent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 première année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313432"/>
            <a:ext cx="4114800" cy="685800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4048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3774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par semaine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surveillance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118104"/>
            <a:ext cx="4114800" cy="6858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20954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318211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émotionnelles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pression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922776"/>
            <a:ext cx="4114800" cy="685800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01421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98678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journée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prévenir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07408" y="914400"/>
            <a:ext cx="329184" cy="4069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4370832" y="265176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800600" y="914400"/>
            <a:ext cx="411480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APRÈS — Avec le système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1508760"/>
            <a:ext cx="411480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6002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26480" y="15727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précision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signaux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313432"/>
            <a:ext cx="4114800" cy="68580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4048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0h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26480" y="23774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surveillance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requise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118104"/>
            <a:ext cx="4114800" cy="685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20954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31821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basées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données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922776"/>
            <a:ext cx="4114800" cy="68580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01421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-4%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26480" y="398678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max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observée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2C5F2D">
              <a:alpha val="35000"/>
            </a:srgbClr>
          </a:solidFill>
          <a:ln w="12700">
            <a:solidFill>
              <a:srgbClr val="2C5F2D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97BC62">
              <a:alpha val="30000"/>
            </a:srgbClr>
          </a:solidFill>
          <a:ln w="12700">
            <a:solidFill>
              <a:srgbClr val="97BC6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 de l'histoire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trader dort enfin.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système, lui, ne dort jamais.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2542032"/>
            <a:ext cx="841248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542032"/>
            <a:ext cx="64008" cy="62179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87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problème réel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43784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de traders perdent. L'IA peut aider.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841248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3291840"/>
            <a:ext cx="64008" cy="62179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solution prouvée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935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précision · 73.5% win rate · -4% max drawdown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41648"/>
            <a:ext cx="841248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4041648"/>
            <a:ext cx="64008" cy="62179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87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Prêt à l'emploi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 ligne, 4 cryptos, signaux en temps réel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n'est pas la fin de la volatilité. C'est le début de la maîtrise.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Histoire du Trading IA — Du Chaos au Signal</dc:title>
  <dc:subject>PptxGenJS Presentation</dc:subject>
  <dc:creator>PptxGenJS</dc:creator>
  <cp:lastModifiedBy>PptxGenJS</cp:lastModifiedBy>
  <cp:revision>1</cp:revision>
  <dcterms:created xsi:type="dcterms:W3CDTF">2026-04-14T21:26:48Z</dcterms:created>
  <dcterms:modified xsi:type="dcterms:W3CDTF">2026-04-14T21:26:48Z</dcterms:modified>
</cp:coreProperties>
</file>